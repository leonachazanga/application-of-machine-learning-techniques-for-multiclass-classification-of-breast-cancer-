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6858000" cy="9144000"/>
  <p:embeddedFontLst>
    <p:embeddedFont>
      <p:font typeface="DM Sans" pitchFamily="2" charset="0"/>
      <p:regular r:id="rId23"/>
      <p:bold r:id="rId24"/>
      <p:italic r:id="rId25"/>
      <p:boldItalic r:id="rId26"/>
    </p:embeddedFont>
    <p:embeddedFont>
      <p:font typeface="DM Sans Medium" pitchFamily="2" charset="0"/>
      <p:regular r:id="rId27"/>
      <p:bold r:id="rId28"/>
      <p:italic r:id="rId29"/>
      <p:boldItalic r:id="rId30"/>
    </p:embeddedFont>
    <p:embeddedFont>
      <p:font typeface="Merriweather" panose="000005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7F16269-D508-49BB-A619-FB0454E6CE31}">
  <a:tblStyle styleId="{F7F16269-D508-49BB-A619-FB0454E6CE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966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5864ecc28_0_22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d5864ecc28_0_22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d5864ecc28_0_25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3d5864ecc28_0_25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5864ecc28_0_2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d5864ecc28_0_2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d5864ecc28_0_2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d5864ecc28_0_2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d5864ecc28_0_25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d5864ecc28_0_25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d6189eaf74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d6189eaf74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5864ecc28_0_2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d5864ecc28_0_2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d5864ecc28_0_25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d5864ecc28_0_25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d6189eaf74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d6189eaf74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3d5864ecc28_0_25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3d5864ecc28_0_25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d6189eaf74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3d6189eaf74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6189eaf74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d6189eaf74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d6189eaf74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d6189eaf74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d5ad97ad77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d5ad97ad77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d5ad97ad77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d5ad97ad77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3d6189eaf74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3d6189eaf74_0_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d5ad97ad77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d5ad97ad77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3d6189eaf74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3d6189eaf74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dec81051c1_0_106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dec81051c1_0_106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3dec81051c1_0_106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3dec81051c1_0_106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_1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8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97" name="Google Shape;97;p1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1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9" name="Google Shape;99;p1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6" name="Google Shape;106;p2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2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09" name="Google Shape;109;p2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10" name="Google Shape;110;p2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11" name="Google Shape;111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4" name="Google Shape;114;p2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5" name="Google Shape;115;p2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18" name="Google Shape;118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2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2" name="Google Shape;122;p2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4" name="Google Shape;124;p2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5" name="Google Shape;125;p2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6" name="Google Shape;126;p2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7" name="Google Shape;127;p2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0" name="Google Shape;130;p2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slide" type="title">
  <p:cSld name="TITLE">
    <p:bg>
      <p:bgPr>
        <a:solidFill>
          <a:schemeClr val="dk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>
            <a:spLocks noGrp="1"/>
          </p:cNvSpPr>
          <p:nvPr>
            <p:ph type="body" idx="1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23"/>
          <p:cNvSpPr txBox="1">
            <a:spLocks noGrp="1"/>
          </p:cNvSpPr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3"/>
          <p:cNvSpPr txBox="1">
            <a:spLocks noGrp="1"/>
          </p:cNvSpPr>
          <p:nvPr>
            <p:ph type="subTitle" idx="2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23"/>
          <p:cNvSpPr>
            <a:spLocks noGrp="1"/>
          </p:cNvSpPr>
          <p:nvPr>
            <p:ph type="pic" idx="3"/>
          </p:nvPr>
        </p:nvSpPr>
        <p:spPr>
          <a:xfrm>
            <a:off x="4437578" y="2171250"/>
            <a:ext cx="4509600" cy="27756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36" name="Google Shape;136;p23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number" type="secHead">
  <p:cSld name="SECTION_HEADER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>
            <a:spLocks noGrp="1"/>
          </p:cNvSpPr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9" name="Google Shape;139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0" name="Google Shape;140;p24"/>
          <p:cNvSpPr txBox="1">
            <a:spLocks noGrp="1"/>
          </p:cNvSpPr>
          <p:nvPr>
            <p:ph type="title" idx="2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1" name="Google Shape;141;p24"/>
          <p:cNvSpPr txBox="1">
            <a:spLocks noGrp="1"/>
          </p:cNvSpPr>
          <p:nvPr>
            <p:ph type="title" idx="3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2" name="Google Shape;142;p24"/>
          <p:cNvSpPr txBox="1">
            <a:spLocks noGrp="1"/>
          </p:cNvSpPr>
          <p:nvPr>
            <p:ph type="title" idx="4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3" name="Google Shape;143;p24"/>
          <p:cNvSpPr txBox="1">
            <a:spLocks noGrp="1"/>
          </p:cNvSpPr>
          <p:nvPr>
            <p:ph type="title" idx="5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4" name="Google Shape;144;p24"/>
          <p:cNvSpPr txBox="1">
            <a:spLocks noGrp="1"/>
          </p:cNvSpPr>
          <p:nvPr>
            <p:ph type="body" idx="1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24"/>
          <p:cNvSpPr txBox="1">
            <a:spLocks noGrp="1"/>
          </p:cNvSpPr>
          <p:nvPr>
            <p:ph type="body" idx="6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 type="tx">
  <p:cSld name="TITLE_AND_BOD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25"/>
          <p:cNvSpPr txBox="1">
            <a:spLocks noGrp="1"/>
          </p:cNvSpPr>
          <p:nvPr>
            <p:ph type="subTitle" idx="1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149" name="Google Shape;149;p25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25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TITLE_AND_BODY_1">
    <p:bg>
      <p:bgPr>
        <a:solidFill>
          <a:schemeClr val="dk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3" name="Google Shape;153;p26"/>
          <p:cNvSpPr txBox="1">
            <a:spLocks noGrp="1"/>
          </p:cNvSpPr>
          <p:nvPr>
            <p:ph type="subTitle" idx="1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154" name="Google Shape;154;p26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5" name="Google Shape;155;p26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1" type="twoColTx">
  <p:cSld name="TITLE_AND_TWO_COLUMNS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7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9" name="Google Shape;15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0" name="Google Shape;160;p27"/>
          <p:cNvSpPr>
            <a:spLocks noGrp="1"/>
          </p:cNvSpPr>
          <p:nvPr>
            <p:ph type="pic" idx="2"/>
          </p:nvPr>
        </p:nvSpPr>
        <p:spPr>
          <a:xfrm>
            <a:off x="3726325" y="669925"/>
            <a:ext cx="5220900" cy="4276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61" name="Google Shape;161;p27"/>
          <p:cNvSpPr txBox="1">
            <a:spLocks noGrp="1"/>
          </p:cNvSpPr>
          <p:nvPr>
            <p:ph type="body" idx="3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27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2">
  <p:cSld name="TITLE_AND_TWO_COLUMNS_1">
    <p:bg>
      <p:bgPr>
        <a:solidFill>
          <a:schemeClr val="dk1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28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8"/>
          <p:cNvSpPr>
            <a:spLocks noGrp="1"/>
          </p:cNvSpPr>
          <p:nvPr>
            <p:ph type="pic" idx="2"/>
          </p:nvPr>
        </p:nvSpPr>
        <p:spPr>
          <a:xfrm>
            <a:off x="3726325" y="669925"/>
            <a:ext cx="5220900" cy="4276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168" name="Google Shape;168;p28"/>
          <p:cNvSpPr txBox="1">
            <a:spLocks noGrp="1"/>
          </p:cNvSpPr>
          <p:nvPr>
            <p:ph type="body" idx="3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28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28"/>
          <p:cNvSpPr txBox="1">
            <a:spLocks noGrp="1"/>
          </p:cNvSpPr>
          <p:nvPr>
            <p:ph type="sldNum" idx="5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chart">
  <p:cSld name="SECTION_TITLE_AND_DESCRIPTION">
    <p:bg>
      <p:bgPr>
        <a:solidFill>
          <a:schemeClr val="lt2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9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73" name="Google Shape;173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4" name="Google Shape;174;p29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29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76" name="Google Shape;176;p29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ppendix">
  <p:cSld name="CAPTION_ONLY">
    <p:bg>
      <p:bgPr>
        <a:solidFill>
          <a:schemeClr val="lt2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0" name="Google Shape;180;p30"/>
          <p:cNvSpPr txBox="1">
            <a:spLocks noGrp="1"/>
          </p:cNvSpPr>
          <p:nvPr>
            <p:ph type="body" idx="1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1" name="Google Shape;181;p30"/>
          <p:cNvSpPr txBox="1">
            <a:spLocks noGrp="1"/>
          </p:cNvSpPr>
          <p:nvPr>
            <p:ph type="body" idx="2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2" name="Google Shape;182;p30"/>
          <p:cNvSpPr txBox="1">
            <a:spLocks noGrp="1"/>
          </p:cNvSpPr>
          <p:nvPr>
            <p:ph type="body" idx="3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3" name="Google Shape;183;p30"/>
          <p:cNvSpPr txBox="1">
            <a:spLocks noGrp="1"/>
          </p:cNvSpPr>
          <p:nvPr>
            <p:ph type="body" idx="4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4" name="Google Shape;184;p30"/>
          <p:cNvSpPr txBox="1">
            <a:spLocks noGrp="1"/>
          </p:cNvSpPr>
          <p:nvPr>
            <p:ph type="body" idx="5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5" name="Google Shape;185;p30"/>
          <p:cNvSpPr txBox="1">
            <a:spLocks noGrp="1"/>
          </p:cNvSpPr>
          <p:nvPr>
            <p:ph type="body" idx="6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6" name="Google Shape;186;p30"/>
          <p:cNvSpPr txBox="1">
            <a:spLocks noGrp="1"/>
          </p:cNvSpPr>
          <p:nvPr>
            <p:ph type="body" idx="7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7" name="Google Shape;187;p30"/>
          <p:cNvSpPr txBox="1">
            <a:spLocks noGrp="1"/>
          </p:cNvSpPr>
          <p:nvPr>
            <p:ph type="body" idx="8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8" name="Google Shape;188;p30"/>
          <p:cNvSpPr txBox="1">
            <a:spLocks noGrp="1"/>
          </p:cNvSpPr>
          <p:nvPr>
            <p:ph type="body" idx="9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89" name="Google Shape;189;p30"/>
          <p:cNvSpPr txBox="1">
            <a:spLocks noGrp="1"/>
          </p:cNvSpPr>
          <p:nvPr>
            <p:ph type="body" idx="13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0" name="Google Shape;190;p30"/>
          <p:cNvSpPr txBox="1">
            <a:spLocks noGrp="1"/>
          </p:cNvSpPr>
          <p:nvPr>
            <p:ph type="body" idx="14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1" name="Google Shape;191;p30"/>
          <p:cNvSpPr txBox="1">
            <a:spLocks noGrp="1"/>
          </p:cNvSpPr>
          <p:nvPr>
            <p:ph type="body" idx="15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2" name="Google Shape;192;p30"/>
          <p:cNvSpPr txBox="1">
            <a:spLocks noGrp="1"/>
          </p:cNvSpPr>
          <p:nvPr>
            <p:ph type="body" idx="16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3" name="Google Shape;193;p30"/>
          <p:cNvSpPr txBox="1">
            <a:spLocks noGrp="1"/>
          </p:cNvSpPr>
          <p:nvPr>
            <p:ph type="body" idx="17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4" name="Google Shape;194;p30"/>
          <p:cNvSpPr txBox="1">
            <a:spLocks noGrp="1"/>
          </p:cNvSpPr>
          <p:nvPr>
            <p:ph type="body" idx="18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5" name="Google Shape;195;p30"/>
          <p:cNvSpPr txBox="1">
            <a:spLocks noGrp="1"/>
          </p:cNvSpPr>
          <p:nvPr>
            <p:ph type="body" idx="19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6" name="Google Shape;196;p30"/>
          <p:cNvSpPr txBox="1">
            <a:spLocks noGrp="1"/>
          </p:cNvSpPr>
          <p:nvPr>
            <p:ph type="body" idx="20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7" name="Google Shape;197;p30"/>
          <p:cNvSpPr txBox="1">
            <a:spLocks noGrp="1"/>
          </p:cNvSpPr>
          <p:nvPr>
            <p:ph type="body" idx="21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8" name="Google Shape;198;p30"/>
          <p:cNvSpPr txBox="1">
            <a:spLocks noGrp="1"/>
          </p:cNvSpPr>
          <p:nvPr>
            <p:ph type="body" idx="22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199" name="Google Shape;199;p30"/>
          <p:cNvSpPr txBox="1">
            <a:spLocks noGrp="1"/>
          </p:cNvSpPr>
          <p:nvPr>
            <p:ph type="body" idx="23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24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1" name="Google Shape;201;p30"/>
          <p:cNvSpPr txBox="1">
            <a:spLocks noGrp="1"/>
          </p:cNvSpPr>
          <p:nvPr>
            <p:ph type="body" idx="25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2" name="Google Shape;202;p30"/>
          <p:cNvSpPr txBox="1">
            <a:spLocks noGrp="1"/>
          </p:cNvSpPr>
          <p:nvPr>
            <p:ph type="body" idx="26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3" name="Google Shape;203;p30"/>
          <p:cNvSpPr txBox="1">
            <a:spLocks noGrp="1"/>
          </p:cNvSpPr>
          <p:nvPr>
            <p:ph type="body" idx="27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4" name="Google Shape;204;p30"/>
          <p:cNvSpPr txBox="1">
            <a:spLocks noGrp="1"/>
          </p:cNvSpPr>
          <p:nvPr>
            <p:ph type="body" idx="28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5" name="Google Shape;205;p30"/>
          <p:cNvSpPr txBox="1">
            <a:spLocks noGrp="1"/>
          </p:cNvSpPr>
          <p:nvPr>
            <p:ph type="body" idx="29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6" name="Google Shape;206;p30"/>
          <p:cNvSpPr txBox="1">
            <a:spLocks noGrp="1"/>
          </p:cNvSpPr>
          <p:nvPr>
            <p:ph type="body" idx="30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marL="1371600" lvl="2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marL="1828800" lvl="3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marL="2286000" lvl="4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marL="2743200" lvl="5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marL="3200400" lvl="6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marL="3657600" lvl="7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marL="4114800" lvl="8" indent="-279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>
            <a:endParaRPr/>
          </a:p>
        </p:txBody>
      </p:sp>
      <p:sp>
        <p:nvSpPr>
          <p:cNvPr id="207" name="Google Shape;207;p30"/>
          <p:cNvSpPr txBox="1">
            <a:spLocks noGrp="1"/>
          </p:cNvSpPr>
          <p:nvPr>
            <p:ph type="body" idx="31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08" name="Google Shape;208;p30"/>
          <p:cNvSpPr txBox="1">
            <a:spLocks noGrp="1"/>
          </p:cNvSpPr>
          <p:nvPr>
            <p:ph type="body" idx="32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">
  <p:cSld name="CUSTOM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31"/>
          <p:cNvSpPr txBox="1">
            <a:spLocks noGrp="1"/>
          </p:cNvSpPr>
          <p:nvPr>
            <p:ph type="body" idx="1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31"/>
          <p:cNvSpPr txBox="1">
            <a:spLocks noGrp="1"/>
          </p:cNvSpPr>
          <p:nvPr>
            <p:ph type="body" idx="2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 1">
  <p:cSld name="Custom blank (g3dec81051c1_24_0)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5" name="Google Shape;215;p32"/>
          <p:cNvSpPr txBox="1">
            <a:spLocks noGrp="1"/>
          </p:cNvSpPr>
          <p:nvPr>
            <p:ph type="body" idx="1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32"/>
          <p:cNvSpPr txBox="1">
            <a:spLocks noGrp="1"/>
          </p:cNvSpPr>
          <p:nvPr>
            <p:ph type="body" idx="2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 1">
  <p:cSld name="Main Point 1 (g3dec81051c1_31_0)"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33"/>
          <p:cNvSpPr txBox="1">
            <a:spLocks noGrp="1"/>
          </p:cNvSpPr>
          <p:nvPr>
            <p:ph type="subTitle" idx="1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220" name="Google Shape;220;p33"/>
          <p:cNvSpPr txBox="1">
            <a:spLocks noGrp="1"/>
          </p:cNvSpPr>
          <p:nvPr>
            <p:ph type="body" idx="2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1" name="Google Shape;221;p33"/>
          <p:cNvSpPr txBox="1">
            <a:spLocks noGrp="1"/>
          </p:cNvSpPr>
          <p:nvPr>
            <p:ph type="body" idx="3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blank 2">
  <p:cSld name="Custom blank (g3dec81051c1_52_0)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4" name="Google Shape;224;p34"/>
          <p:cNvSpPr txBox="1">
            <a:spLocks noGrp="1"/>
          </p:cNvSpPr>
          <p:nvPr>
            <p:ph type="body" idx="1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5" name="Google Shape;225;p34"/>
          <p:cNvSpPr txBox="1">
            <a:spLocks noGrp="1"/>
          </p:cNvSpPr>
          <p:nvPr>
            <p:ph type="body" idx="2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">
  <p:cSld name="Title and body (g3dec81051c1_71_0)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9" name="Google Shape;229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1 1">
  <p:cSld name="Title and body 1 (g3dec81051c1_78_0)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3" name="Google Shape;233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Title and body (g3dec8af65eb_10_0)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36" name="Google Shape;236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37" name="Google Shape;237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3">
  <p:cSld name="Title and body (g3dec8af65eb_18_0)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3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41" name="Google Shape;241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1 1">
  <p:cSld name="Title, body and image 1 (g3dec8af65eb_25_0)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9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9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39"/>
          <p:cNvSpPr>
            <a:spLocks noGrp="1"/>
          </p:cNvSpPr>
          <p:nvPr>
            <p:ph type="pic" idx="2"/>
          </p:nvPr>
        </p:nvSpPr>
        <p:spPr>
          <a:xfrm>
            <a:off x="3726325" y="669925"/>
            <a:ext cx="5220900" cy="4276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247" name="Google Shape;247;p39"/>
          <p:cNvSpPr txBox="1">
            <a:spLocks noGrp="1"/>
          </p:cNvSpPr>
          <p:nvPr>
            <p:ph type="body" idx="3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39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1 2">
  <p:cSld name="Title, body and image 1 (g3dec8af65eb_32_0)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0"/>
          <p:cNvSpPr txBox="1">
            <a:spLocks noGrp="1"/>
          </p:cNvSpPr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51" name="Google Shape;251;p40"/>
          <p:cNvSpPr txBox="1">
            <a:spLocks noGrp="1"/>
          </p:cNvSpPr>
          <p:nvPr>
            <p:ph type="body" idx="1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marL="914400" lvl="1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21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2" name="Google Shape;252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40"/>
          <p:cNvSpPr>
            <a:spLocks noGrp="1"/>
          </p:cNvSpPr>
          <p:nvPr>
            <p:ph type="pic" idx="2"/>
          </p:nvPr>
        </p:nvSpPr>
        <p:spPr>
          <a:xfrm>
            <a:off x="3726325" y="669925"/>
            <a:ext cx="5220900" cy="42768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254" name="Google Shape;254;p40"/>
          <p:cNvSpPr txBox="1">
            <a:spLocks noGrp="1"/>
          </p:cNvSpPr>
          <p:nvPr>
            <p:ph type="body" idx="3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40"/>
          <p:cNvSpPr txBox="1">
            <a:spLocks noGrp="1"/>
          </p:cNvSpPr>
          <p:nvPr>
            <p:ph type="body" idx="4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(g3dedcf8195b_26_0)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9" name="Google Shape;259;p4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0" name="Google Shape;260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4">
  <p:cSld name="Title and body (g3dedcf8195b_40_0)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64" name="Google Shape;264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sz="345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279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3"/>
          <p:cNvSpPr txBox="1">
            <a:spLocks noGrp="1"/>
          </p:cNvSpPr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750"/>
              <a:t>Breast cancer Multiclassificatio</a:t>
            </a:r>
            <a:r>
              <a:rPr lang="en"/>
              <a:t>n</a:t>
            </a:r>
            <a:endParaRPr/>
          </a:p>
        </p:txBody>
      </p:sp>
      <p:sp>
        <p:nvSpPr>
          <p:cNvPr id="270" name="Google Shape;270;p43"/>
          <p:cNvSpPr txBox="1">
            <a:spLocks noGrp="1"/>
          </p:cNvSpPr>
          <p:nvPr>
            <p:ph type="subTitle" idx="2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Transfer learning </a:t>
            </a:r>
            <a:endParaRPr/>
          </a:p>
        </p:txBody>
      </p:sp>
      <p:sp>
        <p:nvSpPr>
          <p:cNvPr id="271" name="Google Shape;271;p43"/>
          <p:cNvSpPr txBox="1">
            <a:spLocks noGrp="1"/>
          </p:cNvSpPr>
          <p:nvPr>
            <p:ph type="body" idx="1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/>
              <a:t>Leona Chazanga</a:t>
            </a:r>
            <a:endParaRPr sz="2100"/>
          </a:p>
        </p:txBody>
      </p:sp>
      <p:pic>
        <p:nvPicPr>
          <p:cNvPr id="272" name="Google Shape;27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675" y="2726850"/>
            <a:ext cx="4225800" cy="241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7" name="Google Shape;277;p44"/>
          <p:cNvGrpSpPr/>
          <p:nvPr/>
        </p:nvGrpSpPr>
        <p:grpSpPr>
          <a:xfrm>
            <a:off x="0" y="0"/>
            <a:ext cx="9144000" cy="762000"/>
            <a:chOff x="0" y="0"/>
            <a:chExt cx="9144000" cy="762000"/>
          </a:xfrm>
        </p:grpSpPr>
        <p:sp>
          <p:nvSpPr>
            <p:cNvPr id="278" name="Google Shape;278;p44"/>
            <p:cNvSpPr/>
            <p:nvPr/>
          </p:nvSpPr>
          <p:spPr>
            <a:xfrm>
              <a:off x="0" y="0"/>
              <a:ext cx="9144000" cy="76200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44"/>
            <p:cNvSpPr txBox="1"/>
            <p:nvPr/>
          </p:nvSpPr>
          <p:spPr>
            <a:xfrm>
              <a:off x="381000" y="0"/>
              <a:ext cx="8382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>
                  <a:solidFill>
                    <a:srgbClr val="F3F0DF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Introduction</a:t>
              </a:r>
              <a:endParaRPr sz="32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</p:grpSp>
      <p:grpSp>
        <p:nvGrpSpPr>
          <p:cNvPr id="280" name="Google Shape;280;p44"/>
          <p:cNvGrpSpPr/>
          <p:nvPr/>
        </p:nvGrpSpPr>
        <p:grpSpPr>
          <a:xfrm>
            <a:off x="381000" y="952500"/>
            <a:ext cx="4095900" cy="1428900"/>
            <a:chOff x="381000" y="952500"/>
            <a:chExt cx="4095900" cy="1428900"/>
          </a:xfrm>
        </p:grpSpPr>
        <p:sp>
          <p:nvSpPr>
            <p:cNvPr id="281" name="Google Shape;281;p44"/>
            <p:cNvSpPr/>
            <p:nvPr/>
          </p:nvSpPr>
          <p:spPr>
            <a:xfrm>
              <a:off x="381000" y="952500"/>
              <a:ext cx="4095900" cy="1428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4"/>
            <p:cNvSpPr txBox="1"/>
            <p:nvPr/>
          </p:nvSpPr>
          <p:spPr>
            <a:xfrm>
              <a:off x="523875" y="95250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Global Impact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Breast cancer is the most diagnosed cancer and leading cause of cancer death among women worldwide.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83" name="Google Shape;283;p44"/>
          <p:cNvGrpSpPr/>
          <p:nvPr/>
        </p:nvGrpSpPr>
        <p:grpSpPr>
          <a:xfrm>
            <a:off x="4667250" y="952500"/>
            <a:ext cx="4095900" cy="1428900"/>
            <a:chOff x="4667250" y="952500"/>
            <a:chExt cx="4095900" cy="1428900"/>
          </a:xfrm>
        </p:grpSpPr>
        <p:sp>
          <p:nvSpPr>
            <p:cNvPr id="284" name="Google Shape;284;p44"/>
            <p:cNvSpPr/>
            <p:nvPr/>
          </p:nvSpPr>
          <p:spPr>
            <a:xfrm>
              <a:off x="4667250" y="952500"/>
              <a:ext cx="4095900" cy="1428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85;p44"/>
            <p:cNvSpPr txBox="1"/>
            <p:nvPr/>
          </p:nvSpPr>
          <p:spPr>
            <a:xfrm>
              <a:off x="4810125" y="95250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Biological Heterogeneity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A heterogeneous group of tumors with variations in clinical presentation, morphology, and biological behavior (Rakha, 2022).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86" name="Google Shape;286;p44"/>
          <p:cNvGrpSpPr/>
          <p:nvPr/>
        </p:nvGrpSpPr>
        <p:grpSpPr>
          <a:xfrm>
            <a:off x="381000" y="2571750"/>
            <a:ext cx="4095900" cy="1428900"/>
            <a:chOff x="381000" y="2571750"/>
            <a:chExt cx="4095900" cy="1428900"/>
          </a:xfrm>
        </p:grpSpPr>
        <p:sp>
          <p:nvSpPr>
            <p:cNvPr id="287" name="Google Shape;287;p44"/>
            <p:cNvSpPr/>
            <p:nvPr/>
          </p:nvSpPr>
          <p:spPr>
            <a:xfrm>
              <a:off x="381000" y="2571750"/>
              <a:ext cx="4095900" cy="14289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44"/>
            <p:cNvSpPr txBox="1"/>
            <p:nvPr/>
          </p:nvSpPr>
          <p:spPr>
            <a:xfrm>
              <a:off x="523875" y="257175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Classification Foundation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Histomorphological classification provides critical diagnostic and prognostic information for all other systems (Rakha, 2022).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89" name="Google Shape;289;p44"/>
          <p:cNvGrpSpPr/>
          <p:nvPr/>
        </p:nvGrpSpPr>
        <p:grpSpPr>
          <a:xfrm>
            <a:off x="4667250" y="2571750"/>
            <a:ext cx="4095900" cy="1428900"/>
            <a:chOff x="4667250" y="2571750"/>
            <a:chExt cx="4095900" cy="1428900"/>
          </a:xfrm>
        </p:grpSpPr>
        <p:sp>
          <p:nvSpPr>
            <p:cNvPr id="290" name="Google Shape;290;p44"/>
            <p:cNvSpPr/>
            <p:nvPr/>
          </p:nvSpPr>
          <p:spPr>
            <a:xfrm>
              <a:off x="4667250" y="2571750"/>
              <a:ext cx="4095900" cy="1428900"/>
            </a:xfrm>
            <a:prstGeom prst="roundRect">
              <a:avLst>
                <a:gd name="adj" fmla="val 8000"/>
              </a:avLst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44"/>
            <p:cNvSpPr txBox="1"/>
            <p:nvPr/>
          </p:nvSpPr>
          <p:spPr>
            <a:xfrm>
              <a:off x="4810125" y="2571750"/>
              <a:ext cx="3810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3F0DF"/>
                  </a:solidFill>
                  <a:latin typeface="DM Sans"/>
                  <a:ea typeface="DM Sans"/>
                  <a:cs typeface="DM Sans"/>
                  <a:sym typeface="DM Sans"/>
                </a:rPr>
                <a:t>The AI Revolution</a:t>
              </a:r>
              <a:endParaRPr sz="1300" b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3F0DF"/>
                  </a:solidFill>
                  <a:latin typeface="DM Sans"/>
                  <a:ea typeface="DM Sans"/>
                  <a:cs typeface="DM Sans"/>
                  <a:sym typeface="DM Sans"/>
                </a:rPr>
                <a:t>AI, ML, and DL improve diagnostic accuracy, reduce evaluation time, and uncover complex patterns (Dur Karasayar et al, 2025).</a:t>
              </a:r>
              <a:endParaRPr sz="11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92" name="Google Shape;292;p44"/>
          <p:cNvGrpSpPr/>
          <p:nvPr/>
        </p:nvGrpSpPr>
        <p:grpSpPr>
          <a:xfrm>
            <a:off x="381000" y="4191000"/>
            <a:ext cx="8382000" cy="571500"/>
            <a:chOff x="381000" y="4191000"/>
            <a:chExt cx="8382000" cy="571500"/>
          </a:xfrm>
        </p:grpSpPr>
        <p:sp>
          <p:nvSpPr>
            <p:cNvPr id="293" name="Google Shape;293;p44"/>
            <p:cNvSpPr/>
            <p:nvPr/>
          </p:nvSpPr>
          <p:spPr>
            <a:xfrm>
              <a:off x="381000" y="4191000"/>
              <a:ext cx="8382000" cy="571500"/>
            </a:xfrm>
            <a:prstGeom prst="roundRect">
              <a:avLst>
                <a:gd name="adj" fmla="val 50000"/>
              </a:avLst>
            </a:prstGeom>
            <a:solidFill>
              <a:srgbClr val="E6EEF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44"/>
            <p:cNvSpPr txBox="1"/>
            <p:nvPr/>
          </p:nvSpPr>
          <p:spPr>
            <a:xfrm>
              <a:off x="666750" y="4191000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088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AI is transforming patient care by optimizing treatment and improving clinical outcomes.</a:t>
              </a:r>
              <a:endParaRPr sz="1200" b="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5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45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 Statement</a:t>
            </a:r>
            <a:endParaRPr sz="3200" b="1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301" name="Google Shape;301;p45"/>
          <p:cNvGrpSpPr/>
          <p:nvPr/>
        </p:nvGrpSpPr>
        <p:grpSpPr>
          <a:xfrm>
            <a:off x="381000" y="952500"/>
            <a:ext cx="4095900" cy="3048000"/>
            <a:chOff x="381000" y="952500"/>
            <a:chExt cx="4095900" cy="3048000"/>
          </a:xfrm>
        </p:grpSpPr>
        <p:sp>
          <p:nvSpPr>
            <p:cNvPr id="302" name="Google Shape;302;p45"/>
            <p:cNvSpPr/>
            <p:nvPr/>
          </p:nvSpPr>
          <p:spPr>
            <a:xfrm>
              <a:off x="381000" y="952500"/>
              <a:ext cx="40959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45"/>
            <p:cNvSpPr txBox="1"/>
            <p:nvPr/>
          </p:nvSpPr>
          <p:spPr>
            <a:xfrm>
              <a:off x="523875" y="1095375"/>
              <a:ext cx="3810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The Need for AI Solutions</a:t>
              </a:r>
              <a:endParaRPr sz="1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Breast cancer subtypes are difficult to distinguish due to high intra-class variability and inter-class similarity in histopathological images.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There is a critical need for AI systems to: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375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Efficiently and accurately classify tumor types.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375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Improve diagnostic accuracy.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375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Reduce processing time for images.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04" name="Google Shape;304;p45"/>
          <p:cNvGrpSpPr/>
          <p:nvPr/>
        </p:nvGrpSpPr>
        <p:grpSpPr>
          <a:xfrm>
            <a:off x="4667250" y="952500"/>
            <a:ext cx="4095900" cy="3048000"/>
            <a:chOff x="4667250" y="952500"/>
            <a:chExt cx="4095900" cy="3048000"/>
          </a:xfrm>
        </p:grpSpPr>
        <p:sp>
          <p:nvSpPr>
            <p:cNvPr id="305" name="Google Shape;305;p45"/>
            <p:cNvSpPr/>
            <p:nvPr/>
          </p:nvSpPr>
          <p:spPr>
            <a:xfrm>
              <a:off x="4667250" y="952500"/>
              <a:ext cx="4095900" cy="3048000"/>
            </a:xfrm>
            <a:prstGeom prst="roundRect">
              <a:avLst>
                <a:gd name="adj" fmla="val 375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45"/>
            <p:cNvSpPr txBox="1"/>
            <p:nvPr/>
          </p:nvSpPr>
          <p:spPr>
            <a:xfrm>
              <a:off x="4810125" y="1095375"/>
              <a:ext cx="38100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Diagnostic Challenges</a:t>
              </a:r>
              <a:endParaRPr sz="1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Classification currently relies heavily on the performance and expertise of pathologists. Key challenges include: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Differentiation between in situ and invasive cancer.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Tumor typing and grading complexity.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298450" algn="l" rtl="0">
                <a:spcBef>
                  <a:spcPts val="600"/>
                </a:spcBef>
                <a:spcAft>
                  <a:spcPts val="0"/>
                </a:spcAft>
                <a:buClr>
                  <a:srgbClr val="333333"/>
                </a:buClr>
                <a:buSzPts val="11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Distinguishing primary cancers from their mimics.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07" name="Google Shape;307;p45"/>
          <p:cNvGrpSpPr/>
          <p:nvPr/>
        </p:nvGrpSpPr>
        <p:grpSpPr>
          <a:xfrm>
            <a:off x="381000" y="4191000"/>
            <a:ext cx="8382000" cy="571500"/>
            <a:chOff x="381000" y="4191000"/>
            <a:chExt cx="8382000" cy="571500"/>
          </a:xfrm>
        </p:grpSpPr>
        <p:sp>
          <p:nvSpPr>
            <p:cNvPr id="308" name="Google Shape;308;p45"/>
            <p:cNvSpPr/>
            <p:nvPr/>
          </p:nvSpPr>
          <p:spPr>
            <a:xfrm>
              <a:off x="381000" y="4191000"/>
              <a:ext cx="8382000" cy="571500"/>
            </a:xfrm>
            <a:prstGeom prst="roundRect">
              <a:avLst>
                <a:gd name="adj" fmla="val 50000"/>
              </a:avLst>
            </a:prstGeom>
            <a:solidFill>
              <a:srgbClr val="E6EEF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45"/>
            <p:cNvSpPr txBox="1"/>
            <p:nvPr/>
          </p:nvSpPr>
          <p:spPr>
            <a:xfrm>
              <a:off x="666750" y="4191000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088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Developing AI tools addresses the variability and complexity issues in current diagnostic workflows.</a:t>
              </a:r>
              <a:endParaRPr sz="1200" b="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46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Objectives</a:t>
            </a:r>
            <a:endParaRPr sz="3200" b="1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316" name="Google Shape;316;p46"/>
          <p:cNvGrpSpPr/>
          <p:nvPr/>
        </p:nvGrpSpPr>
        <p:grpSpPr>
          <a:xfrm>
            <a:off x="381000" y="1000125"/>
            <a:ext cx="8382000" cy="857400"/>
            <a:chOff x="381000" y="1000125"/>
            <a:chExt cx="8382000" cy="857400"/>
          </a:xfrm>
        </p:grpSpPr>
        <p:sp>
          <p:nvSpPr>
            <p:cNvPr id="317" name="Google Shape;317;p46"/>
            <p:cNvSpPr/>
            <p:nvPr/>
          </p:nvSpPr>
          <p:spPr>
            <a:xfrm>
              <a:off x="381000" y="1000125"/>
              <a:ext cx="8382000" cy="8574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46"/>
            <p:cNvSpPr txBox="1"/>
            <p:nvPr/>
          </p:nvSpPr>
          <p:spPr>
            <a:xfrm>
              <a:off x="571500" y="1000125"/>
              <a:ext cx="800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Model Development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To develop a machine learning model for multiclass classification of breast cancer subtypes using breast histopathology images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19" name="Google Shape;319;p46"/>
          <p:cNvGrpSpPr/>
          <p:nvPr/>
        </p:nvGrpSpPr>
        <p:grpSpPr>
          <a:xfrm>
            <a:off x="381000" y="2047875"/>
            <a:ext cx="8382000" cy="857400"/>
            <a:chOff x="381000" y="2047875"/>
            <a:chExt cx="8382000" cy="857400"/>
          </a:xfrm>
        </p:grpSpPr>
        <p:sp>
          <p:nvSpPr>
            <p:cNvPr id="320" name="Google Shape;320;p46"/>
            <p:cNvSpPr/>
            <p:nvPr/>
          </p:nvSpPr>
          <p:spPr>
            <a:xfrm>
              <a:off x="381000" y="2047875"/>
              <a:ext cx="8382000" cy="8574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46"/>
            <p:cNvSpPr txBox="1"/>
            <p:nvPr/>
          </p:nvSpPr>
          <p:spPr>
            <a:xfrm>
              <a:off x="571500" y="2047875"/>
              <a:ext cx="800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Performance Evaluation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To evaluate the model performance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22" name="Google Shape;322;p46"/>
          <p:cNvGrpSpPr/>
          <p:nvPr/>
        </p:nvGrpSpPr>
        <p:grpSpPr>
          <a:xfrm>
            <a:off x="381000" y="3095625"/>
            <a:ext cx="8382000" cy="857400"/>
            <a:chOff x="381000" y="3095625"/>
            <a:chExt cx="8382000" cy="857400"/>
          </a:xfrm>
        </p:grpSpPr>
        <p:sp>
          <p:nvSpPr>
            <p:cNvPr id="323" name="Google Shape;323;p46"/>
            <p:cNvSpPr/>
            <p:nvPr/>
          </p:nvSpPr>
          <p:spPr>
            <a:xfrm>
              <a:off x="381000" y="3095625"/>
              <a:ext cx="8382000" cy="857400"/>
            </a:xfrm>
            <a:prstGeom prst="roundRect">
              <a:avLst>
                <a:gd name="adj" fmla="val 13333"/>
              </a:avLst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46"/>
            <p:cNvSpPr txBox="1"/>
            <p:nvPr/>
          </p:nvSpPr>
          <p:spPr>
            <a:xfrm>
              <a:off x="571500" y="3095625"/>
              <a:ext cx="8001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3F0DF"/>
                  </a:solidFill>
                  <a:latin typeface="DM Sans"/>
                  <a:ea typeface="DM Sans"/>
                  <a:cs typeface="DM Sans"/>
                  <a:sym typeface="DM Sans"/>
                </a:rPr>
                <a:t>Model Interpretability</a:t>
              </a:r>
              <a:endParaRPr sz="1300" b="1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4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F3F0DF"/>
                  </a:solidFill>
                  <a:latin typeface="DM Sans"/>
                  <a:ea typeface="DM Sans"/>
                  <a:cs typeface="DM Sans"/>
                  <a:sym typeface="DM Sans"/>
                </a:rPr>
                <a:t>To use Gradient-weighted Class Activation Mapping (Grad-CAM) to visualize image sections influencing model classification decisions.</a:t>
              </a:r>
              <a:endParaRPr sz="1100" b="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25" name="Google Shape;325;p46"/>
          <p:cNvGrpSpPr/>
          <p:nvPr/>
        </p:nvGrpSpPr>
        <p:grpSpPr>
          <a:xfrm>
            <a:off x="381000" y="4238625"/>
            <a:ext cx="8382000" cy="571500"/>
            <a:chOff x="381000" y="4238625"/>
            <a:chExt cx="8382000" cy="571500"/>
          </a:xfrm>
        </p:grpSpPr>
        <p:sp>
          <p:nvSpPr>
            <p:cNvPr id="326" name="Google Shape;326;p46"/>
            <p:cNvSpPr/>
            <p:nvPr/>
          </p:nvSpPr>
          <p:spPr>
            <a:xfrm>
              <a:off x="381000" y="4238625"/>
              <a:ext cx="8382000" cy="571500"/>
            </a:xfrm>
            <a:prstGeom prst="roundRect">
              <a:avLst>
                <a:gd name="adj" fmla="val 50000"/>
              </a:avLst>
            </a:prstGeom>
            <a:solidFill>
              <a:srgbClr val="E6EEF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46"/>
            <p:cNvSpPr txBox="1"/>
            <p:nvPr/>
          </p:nvSpPr>
          <p:spPr>
            <a:xfrm>
              <a:off x="666750" y="4238625"/>
              <a:ext cx="7810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088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Clearly defined goals ensure technical precision and meaningful clinical outcomes.</a:t>
              </a:r>
              <a:endParaRPr sz="1200" b="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4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47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47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Dataset: BreaKHis</a:t>
            </a:r>
            <a:endParaRPr sz="3200" b="1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335" name="Google Shape;335;p47"/>
          <p:cNvGrpSpPr/>
          <p:nvPr/>
        </p:nvGrpSpPr>
        <p:grpSpPr>
          <a:xfrm>
            <a:off x="381000" y="952500"/>
            <a:ext cx="8382000" cy="809700"/>
            <a:chOff x="381000" y="952500"/>
            <a:chExt cx="8382000" cy="809700"/>
          </a:xfrm>
        </p:grpSpPr>
        <p:sp>
          <p:nvSpPr>
            <p:cNvPr id="336" name="Google Shape;336;p47"/>
            <p:cNvSpPr/>
            <p:nvPr/>
          </p:nvSpPr>
          <p:spPr>
            <a:xfrm>
              <a:off x="381000" y="952500"/>
              <a:ext cx="8382000" cy="809700"/>
            </a:xfrm>
            <a:prstGeom prst="roundRect">
              <a:avLst>
                <a:gd name="adj" fmla="val 14117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47"/>
            <p:cNvSpPr txBox="1"/>
            <p:nvPr/>
          </p:nvSpPr>
          <p:spPr>
            <a:xfrm>
              <a:off x="571500" y="952500"/>
              <a:ext cx="8001000" cy="8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Description of the Dataset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BreaKHis dataset containing 2,081 breast cancer histopathology images at 100X magnification.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38" name="Google Shape;338;p47"/>
          <p:cNvGrpSpPr/>
          <p:nvPr/>
        </p:nvGrpSpPr>
        <p:grpSpPr>
          <a:xfrm>
            <a:off x="381000" y="1905000"/>
            <a:ext cx="4095900" cy="2190900"/>
            <a:chOff x="381000" y="1905000"/>
            <a:chExt cx="4095900" cy="2190900"/>
          </a:xfrm>
        </p:grpSpPr>
        <p:sp>
          <p:nvSpPr>
            <p:cNvPr id="339" name="Google Shape;339;p47"/>
            <p:cNvSpPr/>
            <p:nvPr/>
          </p:nvSpPr>
          <p:spPr>
            <a:xfrm>
              <a:off x="381000" y="1905000"/>
              <a:ext cx="40959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4300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47"/>
            <p:cNvSpPr txBox="1"/>
            <p:nvPr/>
          </p:nvSpPr>
          <p:spPr>
            <a:xfrm>
              <a:off x="571500" y="2047875"/>
              <a:ext cx="3714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16A34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check_circle</a:t>
              </a:r>
              <a:endParaRPr sz="1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Class: Benign</a:t>
              </a:r>
              <a:endParaRPr sz="1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005088"/>
                </a:buClr>
                <a:buSzPts val="14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Adenosis (A)</a:t>
              </a:r>
              <a:endParaRPr sz="1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005088"/>
                </a:buClr>
                <a:buSzPts val="14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Fibroadenoma (F)</a:t>
              </a:r>
              <a:endParaRPr sz="1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005088"/>
                </a:buClr>
                <a:buSzPts val="14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Phyllodes tumor (PT)</a:t>
              </a:r>
              <a:endParaRPr sz="1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005088"/>
                </a:buClr>
                <a:buSzPts val="14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Tubular adenoma (TA)</a:t>
              </a:r>
              <a:endParaRPr sz="14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41" name="Google Shape;341;p47"/>
          <p:cNvGrpSpPr/>
          <p:nvPr/>
        </p:nvGrpSpPr>
        <p:grpSpPr>
          <a:xfrm>
            <a:off x="4667250" y="1905000"/>
            <a:ext cx="4095900" cy="2190900"/>
            <a:chOff x="4667250" y="1905000"/>
            <a:chExt cx="4095900" cy="2190900"/>
          </a:xfrm>
        </p:grpSpPr>
        <p:sp>
          <p:nvSpPr>
            <p:cNvPr id="342" name="Google Shape;342;p47"/>
            <p:cNvSpPr/>
            <p:nvPr/>
          </p:nvSpPr>
          <p:spPr>
            <a:xfrm>
              <a:off x="4667250" y="1905000"/>
              <a:ext cx="4095900" cy="219090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14300" cap="flat" cmpd="sng">
              <a:solidFill>
                <a:srgbClr val="DC262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47"/>
            <p:cNvSpPr txBox="1"/>
            <p:nvPr/>
          </p:nvSpPr>
          <p:spPr>
            <a:xfrm>
              <a:off x="4857750" y="2047875"/>
              <a:ext cx="3714900" cy="1905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 b="1">
                  <a:solidFill>
                    <a:srgbClr val="DC262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warning</a:t>
              </a:r>
              <a:endParaRPr sz="1400" b="1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DC2626"/>
                  </a:solidFill>
                  <a:latin typeface="DM Sans"/>
                  <a:ea typeface="DM Sans"/>
                  <a:cs typeface="DM Sans"/>
                  <a:sym typeface="DM Sans"/>
                </a:rPr>
                <a:t>Class: Malignant</a:t>
              </a:r>
              <a:endParaRPr sz="1400" b="1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900"/>
                </a:spcBef>
                <a:spcAft>
                  <a:spcPts val="0"/>
                </a:spcAft>
                <a:buClr>
                  <a:srgbClr val="DC2626"/>
                </a:buClr>
                <a:buSzPts val="14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Ductal carcinoma (DC)</a:t>
              </a:r>
              <a:endParaRPr sz="1400" b="1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DC2626"/>
                </a:buClr>
                <a:buSzPts val="14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Lobular carcinoma (LC)</a:t>
              </a:r>
              <a:endParaRPr sz="1400" b="1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DC2626"/>
                </a:buClr>
                <a:buSzPts val="14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Mucinous carcinoma (MC)</a:t>
              </a:r>
              <a:endParaRPr sz="1400" b="1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457200" lvl="0" indent="-317500" algn="l" rtl="0">
                <a:spcBef>
                  <a:spcPts val="600"/>
                </a:spcBef>
                <a:spcAft>
                  <a:spcPts val="0"/>
                </a:spcAft>
                <a:buClr>
                  <a:srgbClr val="DC2626"/>
                </a:buClr>
                <a:buSzPts val="1400"/>
                <a:buFont typeface="DM Sans"/>
                <a:buChar char="●"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Papillary carcinoma (PC)</a:t>
              </a:r>
              <a:endParaRPr sz="1400" b="1">
                <a:solidFill>
                  <a:srgbClr val="DC2626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44" name="Google Shape;344;p47"/>
          <p:cNvGrpSpPr/>
          <p:nvPr/>
        </p:nvGrpSpPr>
        <p:grpSpPr>
          <a:xfrm>
            <a:off x="381000" y="4286250"/>
            <a:ext cx="8382000" cy="571500"/>
            <a:chOff x="381000" y="4286250"/>
            <a:chExt cx="8382000" cy="571500"/>
          </a:xfrm>
        </p:grpSpPr>
        <p:sp>
          <p:nvSpPr>
            <p:cNvPr id="345" name="Google Shape;345;p47"/>
            <p:cNvSpPr/>
            <p:nvPr/>
          </p:nvSpPr>
          <p:spPr>
            <a:xfrm>
              <a:off x="381000" y="4286250"/>
              <a:ext cx="8382000" cy="571500"/>
            </a:xfrm>
            <a:prstGeom prst="roundRect">
              <a:avLst>
                <a:gd name="adj" fmla="val 50000"/>
              </a:avLst>
            </a:prstGeom>
            <a:solidFill>
              <a:srgbClr val="E6EEF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47"/>
            <p:cNvSpPr txBox="1"/>
            <p:nvPr/>
          </p:nvSpPr>
          <p:spPr>
            <a:xfrm>
              <a:off x="666750" y="4286250"/>
              <a:ext cx="7810500" cy="571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088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Categorizing images into specific subtypes is essential for accurate multi-class classification.</a:t>
              </a:r>
              <a:endParaRPr sz="1200" b="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  <p:pic>
        <p:nvPicPr>
          <p:cNvPr id="347" name="Google Shape;347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7525" y="150948"/>
            <a:ext cx="1963499" cy="1611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>
            <a:spLocks noGrp="1"/>
          </p:cNvSpPr>
          <p:nvPr>
            <p:ph type="title"/>
          </p:nvPr>
        </p:nvSpPr>
        <p:spPr>
          <a:xfrm>
            <a:off x="197375" y="196450"/>
            <a:ext cx="8520600" cy="4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distribution by class</a:t>
            </a:r>
            <a:endParaRPr sz="2450"/>
          </a:p>
        </p:txBody>
      </p:sp>
      <p:sp>
        <p:nvSpPr>
          <p:cNvPr id="353" name="Google Shape;353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354" name="Google Shape;354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375" y="854038"/>
            <a:ext cx="8720847" cy="4013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49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Data Preprocessing</a:t>
            </a:r>
            <a:endParaRPr sz="3200" b="1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361" name="Google Shape;361;p49"/>
          <p:cNvGrpSpPr/>
          <p:nvPr/>
        </p:nvGrpSpPr>
        <p:grpSpPr>
          <a:xfrm>
            <a:off x="381000" y="1047750"/>
            <a:ext cx="4095900" cy="952500"/>
            <a:chOff x="381000" y="1047750"/>
            <a:chExt cx="4095900" cy="952500"/>
          </a:xfrm>
        </p:grpSpPr>
        <p:sp>
          <p:nvSpPr>
            <p:cNvPr id="362" name="Google Shape;362;p49"/>
            <p:cNvSpPr/>
            <p:nvPr/>
          </p:nvSpPr>
          <p:spPr>
            <a:xfrm>
              <a:off x="381000" y="1047750"/>
              <a:ext cx="40959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49"/>
            <p:cNvSpPr txBox="1"/>
            <p:nvPr/>
          </p:nvSpPr>
          <p:spPr>
            <a:xfrm>
              <a:off x="571500" y="1047750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Image Resizing &amp; Tensor Conversion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Images resized to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160 × 160 pixels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. Converted to tensors for model compatibility.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64" name="Google Shape;364;p49"/>
          <p:cNvGrpSpPr/>
          <p:nvPr/>
        </p:nvGrpSpPr>
        <p:grpSpPr>
          <a:xfrm>
            <a:off x="4667250" y="1047750"/>
            <a:ext cx="4095900" cy="952500"/>
            <a:chOff x="4667250" y="1047750"/>
            <a:chExt cx="4095900" cy="952500"/>
          </a:xfrm>
        </p:grpSpPr>
        <p:sp>
          <p:nvSpPr>
            <p:cNvPr id="365" name="Google Shape;365;p49"/>
            <p:cNvSpPr/>
            <p:nvPr/>
          </p:nvSpPr>
          <p:spPr>
            <a:xfrm>
              <a:off x="4667250" y="1047750"/>
              <a:ext cx="40959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49"/>
            <p:cNvSpPr txBox="1"/>
            <p:nvPr/>
          </p:nvSpPr>
          <p:spPr>
            <a:xfrm>
              <a:off x="4857750" y="1047750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Data Augmentation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Techniques include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flipping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and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colour adjustments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to improve model robustness.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67" name="Google Shape;367;p49"/>
          <p:cNvGrpSpPr/>
          <p:nvPr/>
        </p:nvGrpSpPr>
        <p:grpSpPr>
          <a:xfrm>
            <a:off x="381000" y="2190750"/>
            <a:ext cx="8382000" cy="1047900"/>
            <a:chOff x="381000" y="2190750"/>
            <a:chExt cx="8382000" cy="1047900"/>
          </a:xfrm>
        </p:grpSpPr>
        <p:sp>
          <p:nvSpPr>
            <p:cNvPr id="368" name="Google Shape;368;p49"/>
            <p:cNvSpPr/>
            <p:nvPr/>
          </p:nvSpPr>
          <p:spPr>
            <a:xfrm>
              <a:off x="381000" y="2190750"/>
              <a:ext cx="8382000" cy="10479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49"/>
            <p:cNvSpPr txBox="1"/>
            <p:nvPr/>
          </p:nvSpPr>
          <p:spPr>
            <a:xfrm>
              <a:off x="571500" y="2190750"/>
              <a:ext cx="8001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Normalization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Using standard ImageNet parameters: </a:t>
              </a:r>
              <a:b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</a:b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Mean: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[0.485, 0.456, 0.406]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| Std Dev: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[0.229, 0.224, 0.225]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70" name="Google Shape;370;p49"/>
          <p:cNvGrpSpPr/>
          <p:nvPr/>
        </p:nvGrpSpPr>
        <p:grpSpPr>
          <a:xfrm>
            <a:off x="381000" y="3429000"/>
            <a:ext cx="4095900" cy="952500"/>
            <a:chOff x="381000" y="3429000"/>
            <a:chExt cx="4095900" cy="952500"/>
          </a:xfrm>
        </p:grpSpPr>
        <p:sp>
          <p:nvSpPr>
            <p:cNvPr id="371" name="Google Shape;371;p49"/>
            <p:cNvSpPr/>
            <p:nvPr/>
          </p:nvSpPr>
          <p:spPr>
            <a:xfrm>
              <a:off x="381000" y="3429000"/>
              <a:ext cx="40959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49"/>
            <p:cNvSpPr txBox="1"/>
            <p:nvPr/>
          </p:nvSpPr>
          <p:spPr>
            <a:xfrm>
              <a:off x="571500" y="3429000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Class Balancing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Implemented via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WeightedRandomSampler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to address dataset imbalances.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73" name="Google Shape;373;p49"/>
          <p:cNvGrpSpPr/>
          <p:nvPr/>
        </p:nvGrpSpPr>
        <p:grpSpPr>
          <a:xfrm>
            <a:off x="4667250" y="3429000"/>
            <a:ext cx="4095900" cy="952500"/>
            <a:chOff x="4667250" y="3429000"/>
            <a:chExt cx="4095900" cy="952500"/>
          </a:xfrm>
        </p:grpSpPr>
        <p:sp>
          <p:nvSpPr>
            <p:cNvPr id="374" name="Google Shape;374;p49"/>
            <p:cNvSpPr/>
            <p:nvPr/>
          </p:nvSpPr>
          <p:spPr>
            <a:xfrm>
              <a:off x="4667250" y="3429000"/>
              <a:ext cx="40959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49"/>
            <p:cNvSpPr txBox="1"/>
            <p:nvPr/>
          </p:nvSpPr>
          <p:spPr>
            <a:xfrm>
              <a:off x="4857750" y="3429000"/>
              <a:ext cx="3714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Dataset Splitting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Stratified split</a:t>
              </a:r>
              <a:r>
                <a:rPr lang="en" sz="110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used for train, validation, and test sets to maintain class proportions.</a:t>
              </a:r>
              <a:endParaRPr sz="110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76" name="Google Shape;376;p49"/>
          <p:cNvGrpSpPr/>
          <p:nvPr/>
        </p:nvGrpSpPr>
        <p:grpSpPr>
          <a:xfrm>
            <a:off x="381000" y="4572000"/>
            <a:ext cx="8382000" cy="476400"/>
            <a:chOff x="381000" y="4572000"/>
            <a:chExt cx="8382000" cy="476400"/>
          </a:xfrm>
        </p:grpSpPr>
        <p:sp>
          <p:nvSpPr>
            <p:cNvPr id="377" name="Google Shape;377;p49"/>
            <p:cNvSpPr/>
            <p:nvPr/>
          </p:nvSpPr>
          <p:spPr>
            <a:xfrm>
              <a:off x="381000" y="4572000"/>
              <a:ext cx="8382000" cy="476400"/>
            </a:xfrm>
            <a:prstGeom prst="roundRect">
              <a:avLst>
                <a:gd name="adj" fmla="val 50000"/>
              </a:avLst>
            </a:prstGeom>
            <a:solidFill>
              <a:srgbClr val="E6EEF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49"/>
            <p:cNvSpPr txBox="1"/>
            <p:nvPr/>
          </p:nvSpPr>
          <p:spPr>
            <a:xfrm>
              <a:off x="666750" y="4572000"/>
              <a:ext cx="7810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0">
                  <a:solidFill>
                    <a:srgbClr val="005088"/>
                  </a:solidFill>
                  <a:latin typeface="DM Sans Medium"/>
                  <a:ea typeface="DM Sans Medium"/>
                  <a:cs typeface="DM Sans Medium"/>
                  <a:sym typeface="DM Sans Medium"/>
                </a:rPr>
                <a:t>Comprehensive preprocessing ensures the data is optimized for high-performance deep learning models.</a:t>
              </a:r>
              <a:endParaRPr sz="1200" b="0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0"/>
          <p:cNvSpPr/>
          <p:nvPr/>
        </p:nvSpPr>
        <p:spPr>
          <a:xfrm>
            <a:off x="0" y="0"/>
            <a:ext cx="9144000" cy="762000"/>
          </a:xfrm>
          <a:prstGeom prst="rect">
            <a:avLst/>
          </a:prstGeom>
          <a:solidFill>
            <a:srgbClr val="00508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50"/>
          <p:cNvSpPr txBox="1"/>
          <p:nvPr/>
        </p:nvSpPr>
        <p:spPr>
          <a:xfrm>
            <a:off x="381000" y="0"/>
            <a:ext cx="838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rgbClr val="F3F0DF"/>
                </a:solidFill>
                <a:latin typeface="Merriweather"/>
                <a:ea typeface="Merriweather"/>
                <a:cs typeface="Merriweather"/>
                <a:sym typeface="Merriweather"/>
              </a:rPr>
              <a:t>Machine Learning Methodology</a:t>
            </a:r>
            <a:endParaRPr sz="3200" b="1">
              <a:solidFill>
                <a:srgbClr val="F3F0DF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385" name="Google Shape;385;p50"/>
          <p:cNvGrpSpPr/>
          <p:nvPr/>
        </p:nvGrpSpPr>
        <p:grpSpPr>
          <a:xfrm>
            <a:off x="381000" y="952500"/>
            <a:ext cx="8382000" cy="952500"/>
            <a:chOff x="381000" y="952500"/>
            <a:chExt cx="8382000" cy="952500"/>
          </a:xfrm>
        </p:grpSpPr>
        <p:sp>
          <p:nvSpPr>
            <p:cNvPr id="386" name="Google Shape;386;p50"/>
            <p:cNvSpPr/>
            <p:nvPr/>
          </p:nvSpPr>
          <p:spPr>
            <a:xfrm>
              <a:off x="381000" y="952500"/>
              <a:ext cx="8382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50"/>
            <p:cNvSpPr txBox="1"/>
            <p:nvPr/>
          </p:nvSpPr>
          <p:spPr>
            <a:xfrm>
              <a:off x="571500" y="952500"/>
              <a:ext cx="8001000" cy="95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Data Partitioning &amp; Transfer Learning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225"/>
                </a:spcBef>
                <a:spcAft>
                  <a:spcPts val="0"/>
                </a:spcAft>
                <a:buNone/>
              </a:pP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Data Splitting:</a:t>
              </a: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Training (70%), Validation (15%), Test (15%) |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Split Sizes:</a:t>
              </a: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Train (1456), Val (312), Test (313)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Utilized </a:t>
              </a:r>
              <a:r>
                <a:rPr lang="en" sz="110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Transfer Learning</a:t>
              </a:r>
              <a:r>
                <a:rPr lang="en" sz="110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with ImageNet pretrained models as the foundation.</a:t>
              </a:r>
              <a:endParaRPr sz="110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88" name="Google Shape;388;p50"/>
          <p:cNvGrpSpPr/>
          <p:nvPr/>
        </p:nvGrpSpPr>
        <p:grpSpPr>
          <a:xfrm>
            <a:off x="381000" y="2047875"/>
            <a:ext cx="2667000" cy="2286000"/>
            <a:chOff x="381000" y="2047875"/>
            <a:chExt cx="2667000" cy="2286000"/>
          </a:xfrm>
        </p:grpSpPr>
        <p:sp>
          <p:nvSpPr>
            <p:cNvPr id="389" name="Google Shape;389;p50"/>
            <p:cNvSpPr/>
            <p:nvPr/>
          </p:nvSpPr>
          <p:spPr>
            <a:xfrm>
              <a:off x="381000" y="2047875"/>
              <a:ext cx="2667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0"/>
            <p:cNvSpPr txBox="1"/>
            <p:nvPr/>
          </p:nvSpPr>
          <p:spPr>
            <a:xfrm>
              <a:off x="571500" y="2047875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142875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ResNet-50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A deep CNN with 50 layers leveraging </a:t>
              </a:r>
              <a:r>
                <a:rPr lang="en" sz="105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residual connections</a:t>
              </a:r>
              <a:r>
                <a:rPr lang="en" sz="105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. This architecture allows training of extremely deep models while preventing information loss during backpropagation.</a:t>
              </a:r>
              <a:endParaRPr sz="105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91" name="Google Shape;391;p50"/>
          <p:cNvGrpSpPr/>
          <p:nvPr/>
        </p:nvGrpSpPr>
        <p:grpSpPr>
          <a:xfrm>
            <a:off x="3238500" y="2047875"/>
            <a:ext cx="2667000" cy="2286000"/>
            <a:chOff x="3238500" y="2047875"/>
            <a:chExt cx="2667000" cy="2286000"/>
          </a:xfrm>
        </p:grpSpPr>
        <p:sp>
          <p:nvSpPr>
            <p:cNvPr id="392" name="Google Shape;392;p50"/>
            <p:cNvSpPr/>
            <p:nvPr/>
          </p:nvSpPr>
          <p:spPr>
            <a:xfrm>
              <a:off x="3238500" y="2047875"/>
              <a:ext cx="2667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50"/>
            <p:cNvSpPr txBox="1"/>
            <p:nvPr/>
          </p:nvSpPr>
          <p:spPr>
            <a:xfrm>
              <a:off x="3429000" y="2047875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142875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DenseNet121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Features </a:t>
              </a:r>
              <a:r>
                <a:rPr lang="en" sz="105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dense connections</a:t>
              </a:r>
              <a:r>
                <a:rPr lang="en" sz="105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where every layer connects to all subsequent layers. This promotes feature reuse and efficient gradient flow, excelling at capturing fine image details.</a:t>
              </a:r>
              <a:endParaRPr sz="105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394" name="Google Shape;394;p50"/>
          <p:cNvGrpSpPr/>
          <p:nvPr/>
        </p:nvGrpSpPr>
        <p:grpSpPr>
          <a:xfrm>
            <a:off x="6096000" y="2047875"/>
            <a:ext cx="2667000" cy="2286000"/>
            <a:chOff x="6096000" y="2047875"/>
            <a:chExt cx="2667000" cy="2286000"/>
          </a:xfrm>
        </p:grpSpPr>
        <p:sp>
          <p:nvSpPr>
            <p:cNvPr id="395" name="Google Shape;395;p50"/>
            <p:cNvSpPr/>
            <p:nvPr/>
          </p:nvSpPr>
          <p:spPr>
            <a:xfrm>
              <a:off x="6096000" y="2047875"/>
              <a:ext cx="2667000" cy="2286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0"/>
            <p:cNvSpPr txBox="1"/>
            <p:nvPr/>
          </p:nvSpPr>
          <p:spPr>
            <a:xfrm>
              <a:off x="6286500" y="2047875"/>
              <a:ext cx="2286000" cy="2286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142875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EfficientNet-B0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" sz="105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A high-efficiency CNN that uses </a:t>
              </a:r>
              <a:r>
                <a:rPr lang="en" sz="1050" b="1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balanced scaling</a:t>
              </a:r>
              <a:r>
                <a:rPr lang="en" sz="1050" b="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 of depth, width, and resolution. Achieves superior accuracy with significantly fewer parameters than traditional models.</a:t>
              </a:r>
              <a:endParaRPr sz="1050" b="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5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403" name="Google Shape;40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500" y="314850"/>
            <a:ext cx="8938675" cy="43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5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5"/>
              <a:t>Baseline Model Performance</a:t>
            </a:r>
            <a:endParaRPr sz="2705"/>
          </a:p>
        </p:txBody>
      </p:sp>
      <p:sp>
        <p:nvSpPr>
          <p:cNvPr id="409" name="Google Shape;409;p5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DenseNet121  (best model at baseline)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0" name="Google Shape;410;p52"/>
          <p:cNvGraphicFramePr/>
          <p:nvPr/>
        </p:nvGraphicFramePr>
        <p:xfrm>
          <a:off x="396025" y="1563700"/>
          <a:ext cx="7239000" cy="893950"/>
        </p:xfrm>
        <a:graphic>
          <a:graphicData uri="http://schemas.openxmlformats.org/drawingml/2006/table">
            <a:tbl>
              <a:tblPr>
                <a:noFill/>
                <a:tableStyleId>{F7F16269-D508-49BB-A619-FB0454E6CE31}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Accuracy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Precision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Recall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F1-score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ROC-AUC</a:t>
                      </a:r>
                      <a:endParaRPr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Loss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6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0.6741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0.6465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0.6626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0.6375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0.9440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0.9289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11" name="Google Shape;411;p52"/>
          <p:cNvSpPr txBox="1"/>
          <p:nvPr/>
        </p:nvSpPr>
        <p:spPr>
          <a:xfrm>
            <a:off x="556450" y="2857500"/>
            <a:ext cx="90300" cy="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12" name="Google Shape;412;p52"/>
          <p:cNvSpPr txBox="1"/>
          <p:nvPr/>
        </p:nvSpPr>
        <p:spPr>
          <a:xfrm>
            <a:off x="396025" y="2957350"/>
            <a:ext cx="7310700" cy="89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The baseline model had performance metrics ranging between 63% and 67%. 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</a:rPr>
              <a:t>Showed poor performance with need to improve using fine tuning.</a:t>
            </a:r>
            <a:endParaRPr sz="1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7" name="Google Shape;417;p53"/>
          <p:cNvGrpSpPr/>
          <p:nvPr/>
        </p:nvGrpSpPr>
        <p:grpSpPr>
          <a:xfrm>
            <a:off x="381000" y="285750"/>
            <a:ext cx="8382000" cy="657225"/>
            <a:chOff x="381000" y="285750"/>
            <a:chExt cx="8382000" cy="657225"/>
          </a:xfrm>
        </p:grpSpPr>
        <p:sp>
          <p:nvSpPr>
            <p:cNvPr id="418" name="Google Shape;418;p53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Model Fine-Tuning Parameters</a:t>
              </a:r>
              <a:endParaRPr sz="32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419" name="Google Shape;419;p53"/>
            <p:cNvSpPr/>
            <p:nvPr/>
          </p:nvSpPr>
          <p:spPr>
            <a:xfrm>
              <a:off x="381000" y="904875"/>
              <a:ext cx="571500" cy="3810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20" name="Google Shape;420;p53"/>
          <p:cNvGrpSpPr/>
          <p:nvPr/>
        </p:nvGrpSpPr>
        <p:grpSpPr>
          <a:xfrm>
            <a:off x="381000" y="1143000"/>
            <a:ext cx="4095900" cy="3619500"/>
            <a:chOff x="381000" y="1143000"/>
            <a:chExt cx="4095900" cy="3619500"/>
          </a:xfrm>
        </p:grpSpPr>
        <p:sp>
          <p:nvSpPr>
            <p:cNvPr id="421" name="Google Shape;421;p53"/>
            <p:cNvSpPr/>
            <p:nvPr/>
          </p:nvSpPr>
          <p:spPr>
            <a:xfrm>
              <a:off x="381000" y="1143000"/>
              <a:ext cx="4095900" cy="3619500"/>
            </a:xfrm>
            <a:prstGeom prst="roundRect">
              <a:avLst>
                <a:gd name="adj" fmla="val 3157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53"/>
            <p:cNvSpPr txBox="1"/>
            <p:nvPr/>
          </p:nvSpPr>
          <p:spPr>
            <a:xfrm>
              <a:off x="571500" y="1333500"/>
              <a:ext cx="3714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3" b="1" dirty="0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Optimization Strategy</a:t>
              </a:r>
              <a:endParaRPr sz="1203" b="1" dirty="0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120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Image Resizing: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Standardized to 224×224 pixels.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Batch Size: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16 images per iteration for stable gradients.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Epochs: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Increased from 10 to 20 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Learning Rate: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Set to a small 1e-4 for precise weight updates.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Data Loading: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NUM_WORKERS=2 for parallelized processing.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Early Stopping: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PATIENCE=5 prevents overfitting by halting if no improvement is seen.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5911" algn="l" rtl="0">
                <a:spcBef>
                  <a:spcPts val="750"/>
                </a:spcBef>
                <a:spcAft>
                  <a:spcPts val="0"/>
                </a:spcAft>
                <a:buClr>
                  <a:srgbClr val="333333"/>
                </a:buClr>
                <a:buSzPts val="1218"/>
                <a:buFont typeface="Arial"/>
                <a:buChar char="❏"/>
              </a:pPr>
              <a:r>
                <a:rPr lang="en" sz="1218" b="1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Fine-Tuning:</a:t>
              </a:r>
              <a:r>
                <a:rPr lang="en" sz="1218" dirty="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FREEZE_BACKBONE enables training of the entire model except the final layer.</a:t>
              </a:r>
              <a:endParaRPr sz="1218" dirty="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lvl="0" indent="0" algn="l" rtl="0">
                <a:spcBef>
                  <a:spcPts val="1500"/>
                </a:spcBef>
                <a:spcAft>
                  <a:spcPts val="0"/>
                </a:spcAft>
                <a:buNone/>
              </a:pPr>
              <a:endParaRPr sz="1018" b="1" i="1" dirty="0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3" name="Google Shape;423;p53"/>
          <p:cNvSpPr/>
          <p:nvPr/>
        </p:nvSpPr>
        <p:spPr>
          <a:xfrm>
            <a:off x="4572000" y="1143125"/>
            <a:ext cx="4287900" cy="3619500"/>
          </a:xfrm>
          <a:prstGeom prst="roundRect">
            <a:avLst>
              <a:gd name="adj" fmla="val 3157"/>
            </a:avLst>
          </a:prstGeom>
          <a:solidFill>
            <a:srgbClr val="1E1E1E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4" name="Google Shape;424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43000"/>
            <a:ext cx="4374625" cy="3619500"/>
          </a:xfrm>
          <a:prstGeom prst="rect">
            <a:avLst/>
          </a:prstGeom>
          <a:solidFill>
            <a:srgbClr val="1E1E1E"/>
          </a:solidFill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oogle Shape;429;p54"/>
          <p:cNvGrpSpPr/>
          <p:nvPr/>
        </p:nvGrpSpPr>
        <p:grpSpPr>
          <a:xfrm>
            <a:off x="381000" y="285750"/>
            <a:ext cx="8382000" cy="657225"/>
            <a:chOff x="381000" y="285750"/>
            <a:chExt cx="8382000" cy="657225"/>
          </a:xfrm>
        </p:grpSpPr>
        <p:sp>
          <p:nvSpPr>
            <p:cNvPr id="430" name="Google Shape;430;p54"/>
            <p:cNvSpPr txBox="1"/>
            <p:nvPr/>
          </p:nvSpPr>
          <p:spPr>
            <a:xfrm>
              <a:off x="381000" y="285750"/>
              <a:ext cx="8382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200" b="1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Data Transformation</a:t>
              </a:r>
              <a:endParaRPr sz="3200" b="1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431" name="Google Shape;431;p54"/>
            <p:cNvSpPr/>
            <p:nvPr/>
          </p:nvSpPr>
          <p:spPr>
            <a:xfrm>
              <a:off x="381000" y="904875"/>
              <a:ext cx="571500" cy="38100"/>
            </a:xfrm>
            <a:prstGeom prst="rect">
              <a:avLst/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2" name="Google Shape;432;p54"/>
          <p:cNvGrpSpPr/>
          <p:nvPr/>
        </p:nvGrpSpPr>
        <p:grpSpPr>
          <a:xfrm>
            <a:off x="381000" y="1143000"/>
            <a:ext cx="4095900" cy="3619500"/>
            <a:chOff x="381000" y="1143000"/>
            <a:chExt cx="4095900" cy="3619500"/>
          </a:xfrm>
        </p:grpSpPr>
        <p:sp>
          <p:nvSpPr>
            <p:cNvPr id="433" name="Google Shape;433;p54"/>
            <p:cNvSpPr/>
            <p:nvPr/>
          </p:nvSpPr>
          <p:spPr>
            <a:xfrm>
              <a:off x="381000" y="1143000"/>
              <a:ext cx="4095900" cy="3619500"/>
            </a:xfrm>
            <a:prstGeom prst="roundRect">
              <a:avLst>
                <a:gd name="adj" fmla="val 3157"/>
              </a:avLst>
            </a:prstGeom>
            <a:solidFill>
              <a:srgbClr val="FFFFFF">
                <a:alpha val="6000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54"/>
            <p:cNvSpPr txBox="1"/>
            <p:nvPr/>
          </p:nvSpPr>
          <p:spPr>
            <a:xfrm>
              <a:off x="571500" y="1333500"/>
              <a:ext cx="37149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❏"/>
              </a:pPr>
              <a:r>
                <a:rPr lang="en" sz="1200" b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Resize:</a:t>
              </a:r>
              <a:r>
                <a:rPr lang="en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Images are resized to 224×224.</a:t>
              </a:r>
              <a:endParaRPr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❏"/>
              </a:pPr>
              <a:r>
                <a:rPr lang="en" sz="1200" b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RandomHorizontalFlip:</a:t>
              </a:r>
              <a:r>
                <a:rPr lang="en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Flips images randomly to increase data diversity.</a:t>
              </a:r>
              <a:endParaRPr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❏"/>
              </a:pPr>
              <a:r>
                <a:rPr lang="en" sz="1200" b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RandomRotation(20):</a:t>
              </a:r>
              <a:r>
                <a:rPr lang="en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Rotates images slightly (±20°).</a:t>
              </a:r>
              <a:endParaRPr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❏"/>
              </a:pPr>
              <a:r>
                <a:rPr lang="en" sz="1200" b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ColorJitter:</a:t>
              </a:r>
              <a:r>
                <a:rPr lang="en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Changes brightness, contrast, saturation to simulate staining variations.</a:t>
              </a:r>
              <a:endParaRPr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❏"/>
              </a:pPr>
              <a:r>
                <a:rPr lang="en" sz="1200" b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ToTensor():</a:t>
              </a:r>
              <a:r>
                <a:rPr lang="en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Converts image to numerical format (0–1 scale).</a:t>
              </a:r>
              <a:endParaRPr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Char char="❏"/>
              </a:pPr>
              <a:r>
                <a:rPr lang="en" sz="1200" b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Normalize():</a:t>
              </a:r>
              <a:r>
                <a:rPr lang="en" sz="1200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 Standardizes pixel values for ImageNet compatibility.</a:t>
              </a:r>
              <a:endParaRPr sz="12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5088"/>
                </a:buClr>
                <a:buSzPts val="1200"/>
                <a:buFont typeface="Arial"/>
                <a:buChar char="❏"/>
              </a:pPr>
              <a:r>
                <a:rPr lang="en" sz="1200" b="1" i="1">
                  <a:solidFill>
                    <a:srgbClr val="005088"/>
                  </a:solidFill>
                  <a:latin typeface="Arial"/>
                  <a:ea typeface="Arial"/>
                  <a:cs typeface="Arial"/>
                  <a:sym typeface="Arial"/>
                </a:rPr>
                <a:t>Data augmentation was applied to prevent overfitting and improve generalization.</a:t>
              </a:r>
              <a:endParaRPr sz="1200" b="1" i="1">
                <a:solidFill>
                  <a:srgbClr val="005088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457200" lvl="0" indent="-3048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200"/>
                <a:buFont typeface="Arial"/>
                <a:buChar char="❏"/>
              </a:pPr>
              <a:r>
                <a:rPr lang="en" sz="1200" b="1">
                  <a:solidFill>
                    <a:srgbClr val="333333"/>
                  </a:solidFill>
                  <a:latin typeface="Arial"/>
                  <a:ea typeface="Arial"/>
                  <a:cs typeface="Arial"/>
                  <a:sym typeface="Arial"/>
                </a:rPr>
                <a:t>It also makes model more robust to variations.</a:t>
              </a:r>
              <a:endParaRPr sz="1200" b="1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5" name="Google Shape;435;p54"/>
          <p:cNvGrpSpPr/>
          <p:nvPr/>
        </p:nvGrpSpPr>
        <p:grpSpPr>
          <a:xfrm>
            <a:off x="4667250" y="1143000"/>
            <a:ext cx="4095900" cy="3619500"/>
            <a:chOff x="4667250" y="1143000"/>
            <a:chExt cx="4095900" cy="3619500"/>
          </a:xfrm>
        </p:grpSpPr>
        <p:sp>
          <p:nvSpPr>
            <p:cNvPr id="436" name="Google Shape;436;p54"/>
            <p:cNvSpPr/>
            <p:nvPr/>
          </p:nvSpPr>
          <p:spPr>
            <a:xfrm>
              <a:off x="4667250" y="1143000"/>
              <a:ext cx="4095900" cy="3619500"/>
            </a:xfrm>
            <a:prstGeom prst="roundRect">
              <a:avLst>
                <a:gd name="adj" fmla="val 3157"/>
              </a:avLst>
            </a:prstGeom>
            <a:solidFill>
              <a:srgbClr val="1E1E1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37" name="Google Shape;437;p54"/>
            <p:cNvPicPr preferRelativeResize="0"/>
            <p:nvPr/>
          </p:nvPicPr>
          <p:blipFill rotWithShape="1">
            <a:blip r:embed="rId3">
              <a:alphaModFix/>
            </a:blip>
            <a:srcRect t="5822" b="5831"/>
            <a:stretch/>
          </p:blipFill>
          <p:spPr>
            <a:xfrm>
              <a:off x="4762500" y="1238250"/>
              <a:ext cx="3905400" cy="3429000"/>
            </a:xfrm>
            <a:prstGeom prst="roundRect">
              <a:avLst>
                <a:gd name="adj" fmla="val 2222"/>
              </a:avLst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55"/>
          <p:cNvSpPr txBox="1">
            <a:spLocks noGrp="1"/>
          </p:cNvSpPr>
          <p:nvPr>
            <p:ph type="title"/>
          </p:nvPr>
        </p:nvSpPr>
        <p:spPr>
          <a:xfrm>
            <a:off x="197375" y="196450"/>
            <a:ext cx="3151800" cy="57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50"/>
              <a:t>Models</a:t>
            </a:r>
            <a:endParaRPr sz="2750"/>
          </a:p>
        </p:txBody>
      </p:sp>
      <p:sp>
        <p:nvSpPr>
          <p:cNvPr id="443" name="Google Shape;443;p55"/>
          <p:cNvSpPr txBox="1">
            <a:spLocks noGrp="1"/>
          </p:cNvSpPr>
          <p:nvPr>
            <p:ph type="body" idx="1"/>
          </p:nvPr>
        </p:nvSpPr>
        <p:spPr>
          <a:xfrm>
            <a:off x="122175" y="767050"/>
            <a:ext cx="4134000" cy="39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Arial"/>
              <a:buChar char="❏"/>
            </a:pPr>
            <a:r>
              <a:rPr lang="en" sz="12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ResNet50, DenseNet121 and EfficientNetB0 were used </a:t>
            </a:r>
            <a:endParaRPr sz="12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Arial"/>
              <a:buChar char="❏"/>
            </a:pPr>
            <a:r>
              <a:rPr lang="en" sz="12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Dropout rate is set at 0.3 to prevent overfitting</a:t>
            </a:r>
            <a:endParaRPr sz="12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Arial"/>
              <a:buChar char="❏"/>
            </a:pPr>
            <a:r>
              <a:rPr lang="en" sz="12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Linear layer  outputs 8 classes of the tumors adapting the  model to classification task</a:t>
            </a:r>
            <a:endParaRPr sz="12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200"/>
              <a:buFont typeface="Arial"/>
              <a:buChar char="❏"/>
            </a:pPr>
            <a:r>
              <a:rPr lang="en" sz="12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Freeze-Backbone freezes all layers except the final classifier whilst earlier layers keep pretrained knowledge</a:t>
            </a:r>
            <a:endParaRPr sz="12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5" name="Google Shape;445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350" y="196450"/>
            <a:ext cx="3949125" cy="475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5"/>
              <a:t>Fine Tuned Model Performances</a:t>
            </a:r>
            <a:endParaRPr sz="2705"/>
          </a:p>
        </p:txBody>
      </p:sp>
      <p:sp>
        <p:nvSpPr>
          <p:cNvPr id="451" name="Google Shape;451;p5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25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/>
              <a:t>T</a:t>
            </a:r>
            <a:r>
              <a:rPr lang="en" sz="1300" b="1">
                <a:latin typeface="Arial"/>
                <a:ea typeface="Arial"/>
                <a:cs typeface="Arial"/>
                <a:sym typeface="Arial"/>
              </a:rPr>
              <a:t>est Set Performance Matrices</a:t>
            </a:r>
            <a:endParaRPr sz="13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452" name="Google Shape;452;p56"/>
          <p:cNvGraphicFramePr/>
          <p:nvPr/>
        </p:nvGraphicFramePr>
        <p:xfrm>
          <a:off x="408350" y="1573013"/>
          <a:ext cx="7908950" cy="1720585"/>
        </p:xfrm>
        <a:graphic>
          <a:graphicData uri="http://schemas.openxmlformats.org/drawingml/2006/table">
            <a:tbl>
              <a:tblPr>
                <a:noFill/>
                <a:tableStyleId>{F7F16269-D508-49BB-A619-FB0454E6CE31}</a:tableStyleId>
              </a:tblPr>
              <a:tblGrid>
                <a:gridCol w="145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7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9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9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29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Model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Accuracy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Precision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Recall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F1-scores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ROC-AUC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Loss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DenseNet121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0.904153	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0.908120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0.895719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0.899851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0.993629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0.266918	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ResNet 50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0.907348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0.895239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0.905233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0.898408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0.994942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0.242928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hlink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EfficientB0 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0.891374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0.881264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0.890166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0.884461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0.993409</a:t>
                      </a:r>
                      <a:endParaRPr sz="1200"/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0.254668</a:t>
                      </a:r>
                      <a:endParaRPr sz="1200"/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53" name="Google Shape;453;p56"/>
          <p:cNvSpPr txBox="1"/>
          <p:nvPr/>
        </p:nvSpPr>
        <p:spPr>
          <a:xfrm>
            <a:off x="451725" y="3572725"/>
            <a:ext cx="7865700" cy="12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❏"/>
            </a:pPr>
            <a:r>
              <a:rPr lang="en" sz="1300">
                <a:solidFill>
                  <a:schemeClr val="hlink"/>
                </a:solidFill>
              </a:rPr>
              <a:t>All models demonstrated strong performance, with accuracies ranging from approximately 89% to 91% and very high AUC values of approx. 0.99.</a:t>
            </a:r>
            <a:endParaRPr sz="1300">
              <a:solidFill>
                <a:schemeClr val="hlink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❏"/>
            </a:pPr>
            <a:r>
              <a:rPr lang="en" sz="1300">
                <a:solidFill>
                  <a:schemeClr val="hlink"/>
                </a:solidFill>
              </a:rPr>
              <a:t>High ability to distinguish between breast cancer subtypes. </a:t>
            </a:r>
            <a:endParaRPr sz="1300">
              <a:solidFill>
                <a:schemeClr val="hlink"/>
              </a:solidFill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300"/>
              <a:buChar char="❏"/>
            </a:pPr>
            <a:r>
              <a:rPr lang="en" sz="1300">
                <a:solidFill>
                  <a:schemeClr val="hlink"/>
                </a:solidFill>
              </a:rPr>
              <a:t>ResNet-50 achieved the highest overall accuracy (0.9073), recall (0.9052), and AUC (0.9949), indicating it performs best in correctly identifying true cases and has the strongest class separability. </a:t>
            </a:r>
            <a:endParaRPr sz="1300">
              <a:solidFill>
                <a:schemeClr val="hlink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7"/>
          <p:cNvSpPr txBox="1">
            <a:spLocks noGrp="1"/>
          </p:cNvSpPr>
          <p:nvPr>
            <p:ph type="title"/>
          </p:nvPr>
        </p:nvSpPr>
        <p:spPr>
          <a:xfrm>
            <a:off x="311700" y="196450"/>
            <a:ext cx="8520600" cy="36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5"/>
              <a:t>Comparison to other model performance</a:t>
            </a:r>
            <a:endParaRPr sz="2005"/>
          </a:p>
        </p:txBody>
      </p:sp>
      <p:sp>
        <p:nvSpPr>
          <p:cNvPr id="459" name="Google Shape;459;p5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460" name="Google Shape;460;p57"/>
          <p:cNvGraphicFramePr/>
          <p:nvPr/>
        </p:nvGraphicFramePr>
        <p:xfrm>
          <a:off x="254513" y="643400"/>
          <a:ext cx="8634950" cy="3657360"/>
        </p:xfrm>
        <a:graphic>
          <a:graphicData uri="http://schemas.openxmlformats.org/drawingml/2006/table">
            <a:tbl>
              <a:tblPr>
                <a:noFill/>
                <a:tableStyleId>{F7F16269-D508-49BB-A619-FB0454E6CE31}</a:tableStyleId>
              </a:tblPr>
              <a:tblGrid>
                <a:gridCol w="1592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5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1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35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35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35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Model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Accuracy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Precision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Recall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F1-scores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ROC-AUC</a:t>
                      </a:r>
                      <a:endParaRPr sz="1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/>
                        <a:t>Loss</a:t>
                      </a:r>
                      <a:endParaRPr sz="1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DenseNet121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0.904153	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0.908120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0.895719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0.899851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0.993629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0.266918	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ResNet 50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0.907348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0.895239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0.905233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0.898408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0.994942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0.242928</a:t>
                      </a:r>
                      <a:endParaRPr sz="1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EfficientB0 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0.891374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0.881264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0.890166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0.884461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0.993409</a:t>
                      </a:r>
                      <a:endParaRPr sz="1200"/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0.254668</a:t>
                      </a:r>
                      <a:endParaRPr sz="1200"/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8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DenTnet (Wakili et al, 2022)</a:t>
                      </a:r>
                      <a:endParaRPr sz="1200">
                        <a:solidFill>
                          <a:schemeClr val="hlink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0.9700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0.9948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0.99</a:t>
                      </a:r>
                      <a:endParaRPr sz="1200"/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ResRFSAM-LSTM (Wang et al, 2024)</a:t>
                      </a:r>
                      <a:endParaRPr sz="1200">
                        <a:solidFill>
                          <a:schemeClr val="hlink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97.08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95.87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1F1F1F"/>
                          </a:solidFill>
                        </a:rPr>
                        <a:t>95.87</a:t>
                      </a: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95.87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Xception (Ashrov et al, 2023)</a:t>
                      </a:r>
                      <a:endParaRPr sz="1200">
                        <a:solidFill>
                          <a:schemeClr val="hlink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98.5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6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hlink"/>
                          </a:solidFill>
                        </a:rPr>
                        <a:t>ResNet50(Ashrov et al, 2023)</a:t>
                      </a:r>
                      <a:endParaRPr sz="1200">
                        <a:solidFill>
                          <a:schemeClr val="hlink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98.1</a:t>
                      </a: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/>
                    </a:p>
                  </a:txBody>
                  <a:tcPr marL="66675" marR="66675" marT="66675" marB="6667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1F1F1F"/>
                        </a:solidFill>
                      </a:endParaRPr>
                    </a:p>
                  </a:txBody>
                  <a:tcPr marL="66675" marR="66675" marT="66675" marB="6667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61" name="Google Shape;461;p57"/>
          <p:cNvSpPr txBox="1"/>
          <p:nvPr/>
        </p:nvSpPr>
        <p:spPr>
          <a:xfrm>
            <a:off x="309100" y="4381050"/>
            <a:ext cx="8634900" cy="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hlink"/>
                </a:solidFill>
              </a:rPr>
              <a:t>models had fairly good performance compared to the models from reference literature </a:t>
            </a:r>
            <a:endParaRPr sz="1000"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58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5"/>
              <a:t>Confusion Matrix</a:t>
            </a:r>
            <a:endParaRPr sz="2705"/>
          </a:p>
        </p:txBody>
      </p:sp>
      <p:grpSp>
        <p:nvGrpSpPr>
          <p:cNvPr id="467" name="Google Shape;467;p58"/>
          <p:cNvGrpSpPr/>
          <p:nvPr/>
        </p:nvGrpSpPr>
        <p:grpSpPr>
          <a:xfrm>
            <a:off x="304800" y="1000125"/>
            <a:ext cx="4191000" cy="3572025"/>
            <a:chOff x="304800" y="1000125"/>
            <a:chExt cx="4191000" cy="3572025"/>
          </a:xfrm>
        </p:grpSpPr>
        <p:sp>
          <p:nvSpPr>
            <p:cNvPr id="468" name="Google Shape;468;p58"/>
            <p:cNvSpPr/>
            <p:nvPr/>
          </p:nvSpPr>
          <p:spPr>
            <a:xfrm>
              <a:off x="304800" y="1000125"/>
              <a:ext cx="4191000" cy="523800"/>
            </a:xfrm>
            <a:prstGeom prst="roundRect">
              <a:avLst>
                <a:gd name="adj" fmla="val 7272"/>
              </a:avLst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58"/>
            <p:cNvSpPr txBox="1"/>
            <p:nvPr/>
          </p:nvSpPr>
          <p:spPr>
            <a:xfrm>
              <a:off x="304800" y="1000125"/>
              <a:ext cx="4191000" cy="52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400" b="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High Overall Accuracy</a:t>
              </a:r>
              <a:endParaRPr sz="14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Most predictions are on the diagonal.</a:t>
              </a:r>
              <a:endParaRPr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grpSp>
          <p:nvGrpSpPr>
            <p:cNvPr id="470" name="Google Shape;470;p58"/>
            <p:cNvGrpSpPr/>
            <p:nvPr/>
          </p:nvGrpSpPr>
          <p:grpSpPr>
            <a:xfrm>
              <a:off x="304800" y="1666875"/>
              <a:ext cx="4191000" cy="857400"/>
              <a:chOff x="304800" y="1666875"/>
              <a:chExt cx="4191000" cy="857400"/>
            </a:xfrm>
          </p:grpSpPr>
          <p:sp>
            <p:nvSpPr>
              <p:cNvPr id="471" name="Google Shape;471;p58"/>
              <p:cNvSpPr/>
              <p:nvPr/>
            </p:nvSpPr>
            <p:spPr>
              <a:xfrm>
                <a:off x="304800" y="1666875"/>
                <a:ext cx="4191000" cy="857400"/>
              </a:xfrm>
              <a:prstGeom prst="roundRect">
                <a:avLst>
                  <a:gd name="adj" fmla="val 8888"/>
                </a:avLst>
              </a:prstGeom>
              <a:solidFill>
                <a:srgbClr val="FFFFFF"/>
              </a:solidFill>
              <a:ln w="9525" cap="flat" cmpd="sng">
                <a:solidFill>
                  <a:srgbClr val="00508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58"/>
              <p:cNvSpPr txBox="1"/>
              <p:nvPr/>
            </p:nvSpPr>
            <p:spPr>
              <a:xfrm>
                <a:off x="304800" y="1666875"/>
                <a:ext cx="4191000" cy="85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4300" tIns="114300" rIns="114300" bIns="1143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00508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Strong Performers</a:t>
                </a:r>
                <a:endParaRPr sz="12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0" lvl="0" indent="0" algn="l" rtl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" sz="1050">
                    <a:solidFill>
                      <a:srgbClr val="333333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Classified very well: </a:t>
                </a:r>
                <a:r>
                  <a:rPr lang="en" sz="1050" b="1">
                    <a:solidFill>
                      <a:srgbClr val="333333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Ductal carcinoma, phyllodes tumor, tubular adenoma</a:t>
                </a:r>
                <a:r>
                  <a:rPr lang="en" sz="1050">
                    <a:solidFill>
                      <a:srgbClr val="333333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.</a:t>
                </a:r>
                <a:endParaRPr sz="105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73" name="Google Shape;473;p58"/>
            <p:cNvGrpSpPr/>
            <p:nvPr/>
          </p:nvGrpSpPr>
          <p:grpSpPr>
            <a:xfrm>
              <a:off x="304800" y="2667000"/>
              <a:ext cx="4191000" cy="1285800"/>
              <a:chOff x="304800" y="2667000"/>
              <a:chExt cx="4191000" cy="1285800"/>
            </a:xfrm>
          </p:grpSpPr>
          <p:sp>
            <p:nvSpPr>
              <p:cNvPr id="474" name="Google Shape;474;p58"/>
              <p:cNvSpPr/>
              <p:nvPr/>
            </p:nvSpPr>
            <p:spPr>
              <a:xfrm>
                <a:off x="304800" y="2667000"/>
                <a:ext cx="4191000" cy="1285800"/>
              </a:xfrm>
              <a:prstGeom prst="roundRect">
                <a:avLst>
                  <a:gd name="adj" fmla="val 5925"/>
                </a:avLst>
              </a:prstGeom>
              <a:solidFill>
                <a:srgbClr val="FCE8E6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58"/>
              <p:cNvSpPr txBox="1"/>
              <p:nvPr/>
            </p:nvSpPr>
            <p:spPr>
              <a:xfrm>
                <a:off x="304800" y="2667000"/>
                <a:ext cx="4191000" cy="1285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14300" tIns="114300" rIns="114300" bIns="114300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C53030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Areas of Confusion</a:t>
                </a:r>
                <a:endParaRPr sz="1200" b="1">
                  <a:solidFill>
                    <a:srgbClr val="C53030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457200" lvl="0" indent="-292100" algn="l" rtl="0">
                  <a:spcBef>
                    <a:spcPts val="600"/>
                  </a:spcBef>
                  <a:spcAft>
                    <a:spcPts val="0"/>
                  </a:spcAft>
                  <a:buClr>
                    <a:srgbClr val="4A5568"/>
                  </a:buClr>
                  <a:buSzPts val="1000"/>
                  <a:buFont typeface="DM Sans"/>
                  <a:buChar char="●"/>
                </a:pPr>
                <a:r>
                  <a:rPr lang="en" sz="1000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Minor errors in </a:t>
                </a:r>
                <a:r>
                  <a:rPr lang="en" sz="1000" b="1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fibroadenoma and mucinous carcinoma</a:t>
                </a:r>
                <a:r>
                  <a:rPr lang="en" sz="1000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.</a:t>
                </a:r>
                <a:endParaRPr sz="1000">
                  <a:solidFill>
                    <a:srgbClr val="4A556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457200" lvl="0" indent="-292100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4A5568"/>
                  </a:buClr>
                  <a:buSzPts val="1000"/>
                  <a:buFont typeface="DM Sans"/>
                  <a:buChar char="●"/>
                </a:pPr>
                <a:r>
                  <a:rPr lang="en" sz="1000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Main confusion: </a:t>
                </a:r>
                <a:r>
                  <a:rPr lang="en" sz="1000" b="1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lobular carcinoma vs. ductal carcinoma</a:t>
                </a:r>
                <a:r>
                  <a:rPr lang="en" sz="1000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.</a:t>
                </a:r>
                <a:endParaRPr sz="1000">
                  <a:solidFill>
                    <a:srgbClr val="4A556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  <a:p>
                <a:pPr marL="457200" lvl="0" indent="-292100" algn="l" rtl="0">
                  <a:spcBef>
                    <a:spcPts val="450"/>
                  </a:spcBef>
                  <a:spcAft>
                    <a:spcPts val="0"/>
                  </a:spcAft>
                  <a:buClr>
                    <a:srgbClr val="4A5568"/>
                  </a:buClr>
                  <a:buSzPts val="1000"/>
                  <a:buFont typeface="DM Sans"/>
                  <a:buChar char="●"/>
                </a:pPr>
                <a:r>
                  <a:rPr lang="en" sz="1000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Errors due to </a:t>
                </a:r>
                <a:r>
                  <a:rPr lang="en" sz="1000" b="1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similar histopathology features</a:t>
                </a:r>
                <a:r>
                  <a:rPr lang="en" sz="1000">
                    <a:solidFill>
                      <a:srgbClr val="4A5568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.</a:t>
                </a:r>
                <a:endParaRPr sz="1000">
                  <a:solidFill>
                    <a:srgbClr val="4A5568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  <p:grpSp>
          <p:nvGrpSpPr>
            <p:cNvPr id="476" name="Google Shape;476;p58"/>
            <p:cNvGrpSpPr/>
            <p:nvPr/>
          </p:nvGrpSpPr>
          <p:grpSpPr>
            <a:xfrm>
              <a:off x="304800" y="4095750"/>
              <a:ext cx="4191000" cy="476400"/>
              <a:chOff x="304800" y="4095750"/>
              <a:chExt cx="4191000" cy="476400"/>
            </a:xfrm>
          </p:grpSpPr>
          <p:sp>
            <p:nvSpPr>
              <p:cNvPr id="477" name="Google Shape;477;p58"/>
              <p:cNvSpPr/>
              <p:nvPr/>
            </p:nvSpPr>
            <p:spPr>
              <a:xfrm>
                <a:off x="304800" y="4095750"/>
                <a:ext cx="4191000" cy="476400"/>
              </a:xfrm>
              <a:prstGeom prst="roundRect">
                <a:avLst>
                  <a:gd name="adj" fmla="val 16000"/>
                </a:avLst>
              </a:prstGeom>
              <a:solidFill>
                <a:srgbClr val="E6FFFA"/>
              </a:solidFill>
              <a:ln w="9525" cap="flat" cmpd="sng">
                <a:solidFill>
                  <a:srgbClr val="38B2AC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58"/>
              <p:cNvSpPr txBox="1"/>
              <p:nvPr/>
            </p:nvSpPr>
            <p:spPr>
              <a:xfrm>
                <a:off x="304800" y="4095750"/>
                <a:ext cx="41910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42875" tIns="0" rIns="0" bIns="0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 b="1">
                    <a:solidFill>
                      <a:srgbClr val="234E52"/>
                    </a:solidFill>
                    <a:latin typeface="DM Sans"/>
                    <a:ea typeface="DM Sans"/>
                    <a:cs typeface="DM Sans"/>
                    <a:sym typeface="DM Sans"/>
                  </a:rPr>
                  <a:t>Conclusion: Strong and reliable performance</a:t>
                </a:r>
                <a:endParaRPr sz="1200" b="1">
                  <a:solidFill>
                    <a:srgbClr val="234E52"/>
                  </a:solidFill>
                  <a:latin typeface="DM Sans"/>
                  <a:ea typeface="DM Sans"/>
                  <a:cs typeface="DM Sans"/>
                  <a:sym typeface="DM Sans"/>
                </a:endParaRPr>
              </a:p>
            </p:txBody>
          </p:sp>
        </p:grpSp>
      </p:grpSp>
      <p:pic>
        <p:nvPicPr>
          <p:cNvPr id="479" name="Google Shape;479;p58"/>
          <p:cNvPicPr preferRelativeResize="0"/>
          <p:nvPr/>
        </p:nvPicPr>
        <p:blipFill rotWithShape="1">
          <a:blip r:embed="rId3">
            <a:alphaModFix/>
          </a:blip>
          <a:srcRect l="6911" r="6911"/>
          <a:stretch/>
        </p:blipFill>
        <p:spPr>
          <a:xfrm>
            <a:off x="4667250" y="952500"/>
            <a:ext cx="4191000" cy="380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5"/>
              <a:t>GradCAM of correctly classified images</a:t>
            </a:r>
            <a:endParaRPr sz="2705"/>
          </a:p>
        </p:txBody>
      </p:sp>
      <p:pic>
        <p:nvPicPr>
          <p:cNvPr id="485" name="Google Shape;485;p59"/>
          <p:cNvPicPr preferRelativeResize="0"/>
          <p:nvPr/>
        </p:nvPicPr>
        <p:blipFill rotWithShape="1">
          <a:blip r:embed="rId3">
            <a:alphaModFix/>
          </a:blip>
          <a:srcRect l="40" r="40"/>
          <a:stretch/>
        </p:blipFill>
        <p:spPr>
          <a:xfrm>
            <a:off x="314325" y="1047750"/>
            <a:ext cx="8515500" cy="2743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6" name="Google Shape;486;p59"/>
          <p:cNvGrpSpPr/>
          <p:nvPr/>
        </p:nvGrpSpPr>
        <p:grpSpPr>
          <a:xfrm>
            <a:off x="314325" y="3905250"/>
            <a:ext cx="8515275" cy="952500"/>
            <a:chOff x="314325" y="3905250"/>
            <a:chExt cx="8515275" cy="952500"/>
          </a:xfrm>
        </p:grpSpPr>
        <p:sp>
          <p:nvSpPr>
            <p:cNvPr id="487" name="Google Shape;487;p59"/>
            <p:cNvSpPr/>
            <p:nvPr/>
          </p:nvSpPr>
          <p:spPr>
            <a:xfrm>
              <a:off x="314325" y="3905250"/>
              <a:ext cx="414330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 cap="flat" cmpd="sng">
              <a:solidFill>
                <a:srgbClr val="00508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59"/>
            <p:cNvSpPr txBox="1"/>
            <p:nvPr/>
          </p:nvSpPr>
          <p:spPr>
            <a:xfrm>
              <a:off x="314325" y="3905250"/>
              <a:ext cx="4143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Feature Localization</a:t>
              </a:r>
              <a:endParaRPr sz="1300" b="1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333333"/>
                  </a:solidFill>
                  <a:latin typeface="DM Sans"/>
                  <a:ea typeface="DM Sans"/>
                  <a:cs typeface="DM Sans"/>
                  <a:sym typeface="DM Sans"/>
                </a:rPr>
                <a:t>GradCAM shows important regions and highlights tumor-relevant areas.</a:t>
              </a:r>
              <a:endParaRPr sz="1050">
                <a:solidFill>
                  <a:srgbClr val="333333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489" name="Google Shape;489;p59"/>
            <p:cNvSpPr/>
            <p:nvPr/>
          </p:nvSpPr>
          <p:spPr>
            <a:xfrm>
              <a:off x="4686300" y="3905250"/>
              <a:ext cx="4143300" cy="952500"/>
            </a:xfrm>
            <a:prstGeom prst="roundRect">
              <a:avLst>
                <a:gd name="adj" fmla="val 8000"/>
              </a:avLst>
            </a:prstGeom>
            <a:solidFill>
              <a:srgbClr val="00508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9"/>
            <p:cNvSpPr txBox="1"/>
            <p:nvPr/>
          </p:nvSpPr>
          <p:spPr>
            <a:xfrm>
              <a:off x="4686300" y="3905250"/>
              <a:ext cx="41433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2875" tIns="142875" rIns="142875" bIns="14287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 b="1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Model Explainability</a:t>
              </a:r>
              <a:endParaRPr sz="1300" b="1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marL="0" lvl="0" indent="0" algn="l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" sz="1050">
                  <a:solidFill>
                    <a:srgbClr val="F3F0DF"/>
                  </a:solidFill>
                  <a:latin typeface="DM Sans"/>
                  <a:ea typeface="DM Sans"/>
                  <a:cs typeface="DM Sans"/>
                  <a:sym typeface="DM Sans"/>
                </a:rPr>
                <a:t>Ensures model is learning meaningful features, critical for medical explainability.</a:t>
              </a:r>
              <a:endParaRPr sz="105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5"/>
              <a:t>Conclusion</a:t>
            </a:r>
            <a:endParaRPr sz="2705"/>
          </a:p>
        </p:txBody>
      </p:sp>
      <p:sp>
        <p:nvSpPr>
          <p:cNvPr id="496" name="Google Shape;496;p6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3020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Wingdings" panose="05000000000000000000" pitchFamily="2" charset="2"/>
              <a:buChar char="q"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Developed a </a:t>
            </a:r>
            <a:r>
              <a:rPr lang="en" sz="1100" b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multiclass deep learning model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for breast cancer classification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Achieved </a:t>
            </a:r>
            <a:r>
              <a:rPr lang="en" sz="1100" b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approximately 90% accuracy with strong F1-scores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 after fine-tuning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" sz="1100" b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DenseNet121 performed best overall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, ResNet-50 achieved highest accuracy/AUC and the best clinical model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" sz="1100" b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Grad-CAM confirmed model focuses on relevant tumor regions</a:t>
            </a:r>
            <a:endParaRPr sz="1100" b="1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Demonstrates strong potential of AI for cancer histopathology image processing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Demonstrated effectiveness of  transfer learning, preprocessing and model comparison in medical image processing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Future work-  improve </a:t>
            </a:r>
            <a:r>
              <a:rPr lang="en" sz="1100" b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generalization and expand dataset</a:t>
            </a:r>
          </a:p>
          <a:p>
            <a:pPr marL="15875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None/>
            </a:pPr>
            <a:r>
              <a:rPr lang="en-US" b="1" dirty="0"/>
              <a:t>Future work 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-US" dirty="0"/>
              <a:t>improve generalization and expand dataset Increase number of epochs to improve generalization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-US" dirty="0"/>
              <a:t>Expand dataset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-US" dirty="0"/>
              <a:t>Apply advanced augmentation techniques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r>
              <a:rPr lang="en-US" dirty="0"/>
              <a:t>Deploy model for clinical use</a:t>
            </a:r>
          </a:p>
          <a:p>
            <a:pPr marL="457200" lvl="0" indent="-298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Char char="❏"/>
            </a:pP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497" name="Google Shape;497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1675" y="196450"/>
            <a:ext cx="1961950" cy="19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503" name="Google Shape;503;p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Wang G, Jia M, Zhou Q, et al. Multi-classification of breast cancer pathology images based on a two-stage hybrid network. </a:t>
            </a:r>
            <a:r>
              <a:rPr lang="en" sz="1100" i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J Cancer Res Clin Oncol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 2024;150(12):505. Published 2024 Nov 18. doi:10.1007/s00432-024-06002-y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Ashurov A, Chelloug SA, Tselykh A, Muthanna MSA, Muthanna A, Al-Gaashani MSAM. Improved Breast Cancer Classification through Combining Transfer Learning and Attention Mechanism. </a:t>
            </a:r>
            <a:r>
              <a:rPr lang="en" sz="1100" i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Life (Basel)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 2023;13(9):1945. Published 2023 Sep 21. doi:10.3390/life13091945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Gandomkar Z, Brennan PC, Mello-Thoms C. MuDeRN: Multi-category classification of breast histopathological image using deep residual networks. </a:t>
            </a:r>
            <a:r>
              <a:rPr lang="en" sz="1100" i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Artif Intell Med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 2018;88:14-24. doi:10.1016/j.artmed.2018.04.005</a:t>
            </a: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Wakili MA, Shehu HA, Sharif MH, et al. Classification of Breast Cancer Histopathological Images Using DenseNet and Transfer Learning. </a:t>
            </a:r>
            <a:r>
              <a:rPr lang="en" sz="1100" i="1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Comput Intell Neurosci</a:t>
            </a:r>
            <a:r>
              <a:rPr lang="en" sz="1100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</a:rPr>
              <a:t>. 2022;2022:8904768. Published 2022 Oct 10. doi:10.1155/2022/8904768</a:t>
            </a:r>
          </a:p>
          <a:p>
            <a:pPr marL="0" indent="0">
              <a:spcBef>
                <a:spcPts val="1200"/>
              </a:spcBef>
              <a:buClr>
                <a:schemeClr val="hlink"/>
              </a:buClr>
              <a:buSzPts val="1100"/>
              <a:buNone/>
            </a:pP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Łukasiewicz S, 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Czeczelewski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M, Forma A, Baj J, Sitarz R, </a:t>
            </a:r>
            <a:r>
              <a:rPr lang="en-US" sz="1100" dirty="0" err="1">
                <a:latin typeface="Arial"/>
                <a:ea typeface="Arial"/>
                <a:cs typeface="Arial"/>
                <a:sym typeface="Arial"/>
              </a:rPr>
              <a:t>Stanisławek</a:t>
            </a:r>
            <a:r>
              <a:rPr lang="en-US" sz="1100" dirty="0">
                <a:latin typeface="Arial"/>
                <a:ea typeface="Arial"/>
                <a:cs typeface="Arial"/>
                <a:sym typeface="Arial"/>
              </a:rPr>
              <a:t> A. Breast Cancer-Epidemiology, Risk Factors, Classification, Prognostic Markers, and Current Treatment Strategies-An Updated Review. Cancers (Basel). 2021;13(17):4287. Published 2021 Aug 25. doi:10.3390/cancers13174287</a:t>
            </a: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endParaRPr sz="1100" dirty="0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6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References </a:t>
            </a:r>
            <a:endParaRPr dirty="0"/>
          </a:p>
        </p:txBody>
      </p:sp>
      <p:sp>
        <p:nvSpPr>
          <p:cNvPr id="509" name="Google Shape;509;p6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Conti M, Morciano F, Amodeo S, Gori E, Romanucci G, Belli P, Tommasini O, Fornasa F, Rella R. Special Types of Breast Cancer: Clinical Behavior and Radiological Appearance. Journal of Imaging. 2024; 10(8):182. https://doi.org/10.3390/jimaging10080182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Rakha EA, Tse GM, Quinn CM. An update on the pathological classification of breast cancer. Histopathology. 2023;82(1):5-16. doi:10.1111/his.14786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Dur Karasayar AH, Kulaç İ, Kapucuoğlu N. Advances in Breast Cancer Care: The Role of Artificial Intelligence and Digital Pathology in Precision Medicine. Eur J Breast Health. 2025;21(2):93-100. doi:10.4274/ejbh.galenos.2025.2024-12-8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F. A. Spanhol, L. S. Oliveira, C. Petitjean and L. Heutte, "A Dataset for Breast Cancer Histopathological Image Classification," in IEEE Transactions on Biomedical Engineering, vol. 63, no. 7, pp. 1455-1462, July 2016, doi: 10.1109/TBME.2015.2496264.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Hasan N, Bao Y, Shawon A, Huang Y. DenseNet Convolutional Neural Networks Application for Predicting COVID-19 Using CT Image. SN Comput Sci. 2021;2(5):389. doi:10.1007/s42979-021-00782-7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Feng M, Cai Y, Yan S. Enhanced ResNet50 for Diabetic Retinopathy Classification: External Attention and Modified Residual Branch. Mathematics. 2025; 13(10):1557. https://doi.org/10.3390/math13101557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 dirty="0">
                <a:latin typeface="Arial"/>
                <a:ea typeface="Arial"/>
                <a:cs typeface="Arial"/>
                <a:sym typeface="Arial"/>
              </a:rPr>
              <a:t>Hoang V T, Jo K H. Practical analysis on architecture of EfficientNet. In: Proceedings of the 14th International Conference on Human System Interaction (HSI); 2021; Gdańsk, Poland. p. 1-4. doi:10.1109/HSI52170.2021.9538782.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1788</Words>
  <Application>Microsoft Office PowerPoint</Application>
  <PresentationFormat>On-screen Show (16:9)</PresentationFormat>
  <Paragraphs>231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Arial</vt:lpstr>
      <vt:lpstr>Merriweather</vt:lpstr>
      <vt:lpstr>DM Sans Medium</vt:lpstr>
      <vt:lpstr>Wingdings</vt:lpstr>
      <vt:lpstr>Material Icons</vt:lpstr>
      <vt:lpstr>DM Sans</vt:lpstr>
      <vt:lpstr>Science Presentation</vt:lpstr>
      <vt:lpstr>Breast cancer Multiclassification</vt:lpstr>
      <vt:lpstr>PowerPoint Presentation</vt:lpstr>
      <vt:lpstr>PowerPoint Presentation</vt:lpstr>
      <vt:lpstr>PowerPoint Presentation</vt:lpstr>
      <vt:lpstr>PowerPoint Presentation</vt:lpstr>
      <vt:lpstr>Data distribution by class</vt:lpstr>
      <vt:lpstr>PowerPoint Presentation</vt:lpstr>
      <vt:lpstr>PowerPoint Presentation</vt:lpstr>
      <vt:lpstr>PowerPoint Presentation</vt:lpstr>
      <vt:lpstr>Baseline Model Performance</vt:lpstr>
      <vt:lpstr>PowerPoint Presentation</vt:lpstr>
      <vt:lpstr>PowerPoint Presentation</vt:lpstr>
      <vt:lpstr>Models</vt:lpstr>
      <vt:lpstr>Fine Tuned Model Performances</vt:lpstr>
      <vt:lpstr>Comparison to other model performance</vt:lpstr>
      <vt:lpstr>Confusion Matrix</vt:lpstr>
      <vt:lpstr>GradCAM of correctly classified images</vt:lpstr>
      <vt:lpstr>Conclusion</vt:lpstr>
      <vt:lpstr>References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Leona</dc:creator>
  <cp:lastModifiedBy>Leona</cp:lastModifiedBy>
  <cp:revision>3</cp:revision>
  <dcterms:modified xsi:type="dcterms:W3CDTF">2026-04-17T02:46:58Z</dcterms:modified>
</cp:coreProperties>
</file>